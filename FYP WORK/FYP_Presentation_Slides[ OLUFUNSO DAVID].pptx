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2.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371" r:id="rId3"/>
    <p:sldId id="372" r:id="rId4"/>
    <p:sldId id="373" r:id="rId5"/>
    <p:sldId id="374" r:id="rId6"/>
    <p:sldId id="375" r:id="rId7"/>
    <p:sldId id="376" r:id="rId8"/>
    <p:sldId id="386" r:id="rId9"/>
    <p:sldId id="377" r:id="rId10"/>
    <p:sldId id="378" r:id="rId11"/>
    <p:sldId id="381" r:id="rId12"/>
    <p:sldId id="382" r:id="rId13"/>
    <p:sldId id="383" r:id="rId14"/>
    <p:sldId id="384" r:id="rId15"/>
    <p:sldId id="387" r:id="rId16"/>
    <p:sldId id="385" r:id="rId17"/>
  </p:sldIdLst>
  <p:sldSz cx="9144000" cy="5143500" type="screen16x9"/>
  <p:notesSz cx="6858000" cy="9144000"/>
  <p:embeddedFontLst>
    <p:embeddedFont>
      <p:font typeface="Convection" panose="020B0604040501040203" pitchFamily="34" charset="0"/>
      <p:regular r:id="rId22"/>
      <p:bold r:id="rId23"/>
      <p:italic r:id="rId24"/>
    </p:embeddedFont>
    <p:embeddedFont>
      <p:font typeface="Roboto" panose="02000000000000000000" pitchFamily="2" charset="0"/>
      <p:regular r:id="rId25"/>
      <p:bold r:id="rId26"/>
    </p:embeddedFont>
    <p:embeddedFont>
      <p:font typeface="Book Antiqua" panose="02040602050305030304" pitchFamily="18" charset="0"/>
      <p:regular r:id="rId27"/>
      <p:bold r:id="rId28"/>
      <p:italic r:id="rId29"/>
      <p:boldItalic r:id="rId30"/>
    </p:embeddedFont>
    <p:embeddedFont>
      <p:font typeface="Calibri" panose="020F0502020204030204"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0D2D"/>
    <a:srgbClr val="760000"/>
    <a:srgbClr val="83603F"/>
    <a:srgbClr val="6F3505"/>
    <a:srgbClr val="EAE354"/>
    <a:srgbClr val="FFFFFF"/>
    <a:srgbClr val="238D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4" autoAdjust="0"/>
    <p:restoredTop sz="94563" autoAdjust="0"/>
  </p:normalViewPr>
  <p:slideViewPr>
    <p:cSldViewPr showGuides="1">
      <p:cViewPr varScale="1">
        <p:scale>
          <a:sx n="78" d="100"/>
          <a:sy n="78" d="100"/>
        </p:scale>
        <p:origin x="940" y="72"/>
      </p:cViewPr>
      <p:guideLst>
        <p:guide orient="horz" pos="1620"/>
        <p:guide pos="2880"/>
      </p:guideLst>
    </p:cSldViewPr>
  </p:slideViewPr>
  <p:outlineViewPr>
    <p:cViewPr>
      <p:scale>
        <a:sx n="33" d="100"/>
        <a:sy n="33" d="100"/>
      </p:scale>
      <p:origin x="48" y="371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font" Target="fonts/font13.fntdata"/><Relationship Id="rId33" Type="http://schemas.openxmlformats.org/officeDocument/2006/relationships/font" Target="fonts/font12.fntdata"/><Relationship Id="rId32" Type="http://schemas.openxmlformats.org/officeDocument/2006/relationships/font" Target="fonts/font11.fntdata"/><Relationship Id="rId31" Type="http://schemas.openxmlformats.org/officeDocument/2006/relationships/font" Target="fonts/font10.fntdata"/><Relationship Id="rId30" Type="http://schemas.openxmlformats.org/officeDocument/2006/relationships/font" Target="fonts/font9.fntdata"/><Relationship Id="rId3" Type="http://schemas.openxmlformats.org/officeDocument/2006/relationships/slide" Target="slides/slide1.xml"/><Relationship Id="rId29" Type="http://schemas.openxmlformats.org/officeDocument/2006/relationships/font" Target="fonts/font8.fntdata"/><Relationship Id="rId28" Type="http://schemas.openxmlformats.org/officeDocument/2006/relationships/font" Target="fonts/font7.fntdata"/><Relationship Id="rId27" Type="http://schemas.openxmlformats.org/officeDocument/2006/relationships/font" Target="fonts/font6.fntdata"/><Relationship Id="rId26" Type="http://schemas.openxmlformats.org/officeDocument/2006/relationships/font" Target="fonts/font5.fntdata"/><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25670A1-07FE-4E60-971A-EEC905C4E1F5}" type="datetimeFigureOut">
              <a:rPr lang="en-GB" smtClean="0"/>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67F285-4C50-4F3D-B624-80174EC101D3}"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raphic 6" descr="An organic shape with a flat edge"/>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8600" y="-5190698"/>
            <a:ext cx="10332640" cy="10332640"/>
          </a:xfrm>
          <a:prstGeom prst="rect">
            <a:avLst/>
          </a:prstGeom>
        </p:spPr>
      </p:pic>
      <p:pic>
        <p:nvPicPr>
          <p:cNvPr id="8" name="Picture 2" descr="C:\Users\Ours\Desktop\flash\c.u..jpg"/>
          <p:cNvPicPr>
            <a:picLocks noChangeAspect="1" noChangeArrowheads="1"/>
          </p:cNvPicPr>
          <p:nvPr userDrawn="1"/>
        </p:nvPicPr>
        <p:blipFill rotWithShape="1">
          <a:blip r:embed="rId4" cstate="print">
            <a:duotone>
              <a:prstClr val="black"/>
              <a:schemeClr val="accent6">
                <a:tint val="45000"/>
                <a:satMod val="400000"/>
              </a:schemeClr>
            </a:duotone>
          </a:blip>
          <a:srcRect l="48436" t="-169" b="47036"/>
          <a:stretch>
            <a:fillRect/>
          </a:stretch>
        </p:blipFill>
        <p:spPr bwMode="auto">
          <a:xfrm>
            <a:off x="-3408" y="775917"/>
            <a:ext cx="3996083" cy="3168352"/>
          </a:xfrm>
          <a:prstGeom prst="rect">
            <a:avLst/>
          </a:prstGeom>
          <a:noFill/>
        </p:spPr>
      </p:pic>
      <p:sp>
        <p:nvSpPr>
          <p:cNvPr id="2" name="Title 1"/>
          <p:cNvSpPr>
            <a:spLocks noGrp="1"/>
          </p:cNvSpPr>
          <p:nvPr userDrawn="1">
            <p:ph type="ctrTitle"/>
          </p:nvPr>
        </p:nvSpPr>
        <p:spPr>
          <a:xfrm>
            <a:off x="4067944" y="842989"/>
            <a:ext cx="4896544" cy="2160809"/>
          </a:xfrm>
          <a:solidFill>
            <a:schemeClr val="bg1">
              <a:lumMod val="85000"/>
              <a:alpha val="16078"/>
            </a:schemeClr>
          </a:solidFill>
        </p:spPr>
        <p:txBody>
          <a:bodyPr>
            <a:noAutofit/>
          </a:bodyPr>
          <a:lstStyle>
            <a:lvl1pPr algn="l">
              <a:defRPr sz="4000" b="1">
                <a:solidFill>
                  <a:sysClr val="windowText" lastClr="000000"/>
                </a:solidFill>
                <a:latin typeface="Convection" panose="020B0604040501040203" pitchFamily="34" charset="0"/>
              </a:defRPr>
            </a:lvl1pPr>
          </a:lstStyle>
          <a:p>
            <a:r>
              <a:rPr lang="en-US" dirty="0"/>
              <a:t>Click to edit Master title style</a:t>
            </a:r>
            <a:endParaRPr lang="en-GB" dirty="0"/>
          </a:p>
        </p:txBody>
      </p:sp>
      <p:sp>
        <p:nvSpPr>
          <p:cNvPr id="3" name="Subtitle 2"/>
          <p:cNvSpPr>
            <a:spLocks noGrp="1"/>
          </p:cNvSpPr>
          <p:nvPr userDrawn="1">
            <p:ph type="subTitle" idx="1"/>
          </p:nvPr>
        </p:nvSpPr>
        <p:spPr>
          <a:xfrm>
            <a:off x="4067944" y="3224189"/>
            <a:ext cx="3001052" cy="720080"/>
          </a:xfrm>
          <a:noFill/>
        </p:spPr>
        <p:txBody>
          <a:bodyPr anchor="ctr">
            <a:normAutofit/>
          </a:bodyPr>
          <a:lstStyle>
            <a:lvl1pPr marL="0" indent="0" algn="l">
              <a:buNone/>
              <a:defRPr sz="2000">
                <a:solidFill>
                  <a:schemeClr val="tx1"/>
                </a:solidFill>
                <a:latin typeface="Roboto" panose="02000000000000000000" pitchFamily="2" charset="0"/>
                <a:ea typeface="Roboto" panose="02000000000000000000"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grpSp>
        <p:nvGrpSpPr>
          <p:cNvPr id="5" name="Group 4"/>
          <p:cNvGrpSpPr/>
          <p:nvPr userDrawn="1"/>
        </p:nvGrpSpPr>
        <p:grpSpPr>
          <a:xfrm>
            <a:off x="187956" y="415877"/>
            <a:ext cx="720080" cy="720080"/>
            <a:chOff x="-324544" y="267494"/>
            <a:chExt cx="720080" cy="720080"/>
          </a:xfrm>
        </p:grpSpPr>
        <p:sp>
          <p:nvSpPr>
            <p:cNvPr id="4" name="Oval 3"/>
            <p:cNvSpPr/>
            <p:nvPr userDrawn="1"/>
          </p:nvSpPr>
          <p:spPr>
            <a:xfrm>
              <a:off x="-324544" y="267494"/>
              <a:ext cx="720080" cy="7200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2" descr="C:\Users\Ours\Desktop\my stuffs\1 NTFS_000\LostFiles2\INSPIRATION\PROJECTS\MIND PROJECTS\cu_logo.png"/>
            <p:cNvPicPr>
              <a:picLocks noChangeAspect="1" noChangeArrowheads="1"/>
            </p:cNvPicPr>
            <p:nvPr userDrawn="1"/>
          </p:nvPicPr>
          <p:blipFill>
            <a:blip r:embed="rId5" cstate="print"/>
            <a:srcRect/>
            <a:stretch>
              <a:fillRect/>
            </a:stretch>
          </p:blipFill>
          <p:spPr bwMode="auto">
            <a:xfrm>
              <a:off x="-184079" y="393534"/>
              <a:ext cx="439150" cy="468000"/>
            </a:xfrm>
            <a:prstGeom prst="rect">
              <a:avLst/>
            </a:prstGeom>
            <a:noFill/>
          </p:spPr>
        </p:pic>
      </p:grpSp>
      <p:sp>
        <p:nvSpPr>
          <p:cNvPr id="18" name="Text Placeholder 17"/>
          <p:cNvSpPr>
            <a:spLocks noGrp="1"/>
          </p:cNvSpPr>
          <p:nvPr>
            <p:ph type="body" sz="quarter" idx="10" hasCustomPrompt="1"/>
          </p:nvPr>
        </p:nvSpPr>
        <p:spPr>
          <a:xfrm>
            <a:off x="0" y="3944269"/>
            <a:ext cx="3992675" cy="576519"/>
          </a:xfrm>
        </p:spPr>
        <p:txBody>
          <a:bodyPr anchor="ctr">
            <a:normAutofit/>
          </a:bodyPr>
          <a:lstStyle>
            <a:lvl1pPr marL="0" indent="0">
              <a:buNone/>
              <a:defRPr sz="2000" b="1">
                <a:latin typeface="Convection" panose="020B060404050104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rotWithShape="1">
          <a:blip r:embed="rId2" cstate="print">
            <a:duotone>
              <a:prstClr val="black"/>
              <a:schemeClr val="accent6">
                <a:tint val="45000"/>
                <a:satMod val="400000"/>
              </a:schemeClr>
            </a:duotone>
          </a:blip>
          <a:srcRect t="41078" b="51590"/>
          <a:stretch>
            <a:fillRect/>
          </a:stretch>
        </p:blipFill>
        <p:spPr bwMode="auto">
          <a:xfrm>
            <a:off x="0" y="4713087"/>
            <a:ext cx="9209063" cy="448868"/>
          </a:xfrm>
          <a:prstGeom prst="rect">
            <a:avLst/>
          </a:prstGeom>
          <a:noFill/>
        </p:spPr>
      </p:pic>
      <p:sp>
        <p:nvSpPr>
          <p:cNvPr id="2" name="Title 1"/>
          <p:cNvSpPr>
            <a:spLocks noGrp="1"/>
          </p:cNvSpPr>
          <p:nvPr>
            <p:ph type="title"/>
          </p:nvPr>
        </p:nvSpPr>
        <p:spPr>
          <a:xfrm>
            <a:off x="107504" y="205979"/>
            <a:ext cx="8928992" cy="857250"/>
          </a:xfrm>
        </p:spPr>
        <p:txBody>
          <a:bodyPr>
            <a:normAutofit/>
          </a:bodyPr>
          <a:lstStyle>
            <a:lvl1pPr algn="l">
              <a:defRPr sz="4000" b="1">
                <a:solidFill>
                  <a:schemeClr val="tx1"/>
                </a:solidFill>
                <a:latin typeface="Convection" panose="020B0604040501040203" pitchFamily="34" charset="0"/>
              </a:defRPr>
            </a:lvl1pPr>
          </a:lstStyle>
          <a:p>
            <a:r>
              <a:rPr lang="en-US" dirty="0"/>
              <a:t>Click to edit Master title style</a:t>
            </a:r>
            <a:endParaRPr lang="en-GB" dirty="0"/>
          </a:p>
        </p:txBody>
      </p:sp>
      <p:sp>
        <p:nvSpPr>
          <p:cNvPr id="3" name="Content Placeholder 2"/>
          <p:cNvSpPr>
            <a:spLocks noGrp="1"/>
          </p:cNvSpPr>
          <p:nvPr>
            <p:ph idx="1"/>
          </p:nvPr>
        </p:nvSpPr>
        <p:spPr>
          <a:xfrm>
            <a:off x="107504" y="1200150"/>
            <a:ext cx="8928992" cy="3531839"/>
          </a:xfrm>
        </p:spPr>
        <p:txBody>
          <a:bodyPr anchor="ctr">
            <a:normAutofit/>
          </a:bodyPr>
          <a:lstStyle>
            <a:lvl1pPr marL="342900" indent="-342900">
              <a:lnSpc>
                <a:spcPct val="100000"/>
              </a:lnSpc>
              <a:spcBef>
                <a:spcPts val="400"/>
              </a:spcBef>
              <a:spcAft>
                <a:spcPts val="500"/>
              </a:spcAft>
              <a:buFont typeface="Wingdings" panose="05000000000000000000" pitchFamily="2" charset="2"/>
              <a:buChar char="§"/>
              <a:defRPr sz="2800">
                <a:solidFill>
                  <a:sysClr val="windowText" lastClr="000000"/>
                </a:solidFill>
                <a:latin typeface="Roboto" panose="02000000000000000000" pitchFamily="2" charset="0"/>
                <a:ea typeface="Roboto" panose="02000000000000000000" pitchFamily="2" charset="0"/>
              </a:defRPr>
            </a:lvl1pPr>
            <a:lvl2pPr>
              <a:lnSpc>
                <a:spcPct val="100000"/>
              </a:lnSpc>
              <a:spcBef>
                <a:spcPts val="400"/>
              </a:spcBef>
              <a:spcAft>
                <a:spcPts val="500"/>
              </a:spcAft>
              <a:defRPr sz="2400">
                <a:solidFill>
                  <a:srgbClr val="760000"/>
                </a:solidFill>
                <a:latin typeface="Roboto" panose="02000000000000000000" pitchFamily="2" charset="0"/>
                <a:ea typeface="Roboto" panose="02000000000000000000" pitchFamily="2" charset="0"/>
              </a:defRPr>
            </a:lvl2pPr>
            <a:lvl3pPr>
              <a:lnSpc>
                <a:spcPct val="100000"/>
              </a:lnSpc>
              <a:spcBef>
                <a:spcPts val="400"/>
              </a:spcBef>
              <a:spcAft>
                <a:spcPts val="500"/>
              </a:spcAft>
              <a:defRPr sz="2000">
                <a:solidFill>
                  <a:srgbClr val="1F0D2D"/>
                </a:solidFill>
                <a:latin typeface="Roboto" panose="02000000000000000000" pitchFamily="2" charset="0"/>
                <a:ea typeface="Roboto" panose="02000000000000000000" pitchFamily="2" charset="0"/>
              </a:defRPr>
            </a:lvl3pPr>
            <a:lvl4pPr>
              <a:lnSpc>
                <a:spcPct val="100000"/>
              </a:lnSpc>
              <a:spcBef>
                <a:spcPts val="400"/>
              </a:spcBef>
              <a:spcAft>
                <a:spcPts val="0"/>
              </a:spcAft>
              <a:defRPr sz="1800">
                <a:solidFill>
                  <a:sysClr val="windowText" lastClr="000000"/>
                </a:solidFill>
                <a:latin typeface="Roboto" panose="02000000000000000000" pitchFamily="2" charset="0"/>
                <a:ea typeface="Roboto" panose="02000000000000000000" pitchFamily="2" charset="0"/>
              </a:defRPr>
            </a:lvl4pPr>
            <a:lvl5pPr>
              <a:lnSpc>
                <a:spcPct val="100000"/>
              </a:lnSpc>
              <a:spcBef>
                <a:spcPts val="400"/>
              </a:spcBef>
              <a:spcAft>
                <a:spcPts val="500"/>
              </a:spcAft>
              <a:defRPr sz="1800">
                <a:solidFill>
                  <a:sysClr val="windowText" lastClr="000000"/>
                </a:solidFill>
                <a:latin typeface="Roboto" panose="02000000000000000000" pitchFamily="2" charset="0"/>
                <a:ea typeface="Roboto" panose="02000000000000000000" pitchFamily="2" charset="0"/>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6" name="Slide Number Placeholder 5"/>
          <p:cNvSpPr>
            <a:spLocks noGrp="1"/>
          </p:cNvSpPr>
          <p:nvPr>
            <p:ph type="sldNum" sz="quarter" idx="12"/>
          </p:nvPr>
        </p:nvSpPr>
        <p:spPr>
          <a:xfrm>
            <a:off x="3505200" y="4818186"/>
            <a:ext cx="2133600" cy="273844"/>
          </a:xfrm>
        </p:spPr>
        <p:txBody>
          <a:bodyPr/>
          <a:lstStyle>
            <a:lvl1pPr algn="ctr">
              <a:defRPr sz="1600" b="1">
                <a:solidFill>
                  <a:schemeClr val="bg1"/>
                </a:solidFill>
                <a:latin typeface="Book Antiqua" panose="02040602050305030304" pitchFamily="18" charset="0"/>
              </a:defRPr>
            </a:lvl1pPr>
          </a:lstStyle>
          <a:p>
            <a:fld id="{B2D481B8-F12E-4FB9-A3A8-66EE472E4641}" type="slidenum">
              <a:rPr lang="en-GB" smtClean="0"/>
            </a:fld>
            <a:endParaRPr lang="en-GB"/>
          </a:p>
        </p:txBody>
      </p:sp>
      <p:cxnSp>
        <p:nvCxnSpPr>
          <p:cNvPr id="8" name="Straight Connector 7"/>
          <p:cNvCxnSpPr/>
          <p:nvPr userDrawn="1"/>
        </p:nvCxnSpPr>
        <p:spPr>
          <a:xfrm>
            <a:off x="0" y="195486"/>
            <a:ext cx="9144000" cy="0"/>
          </a:xfrm>
          <a:prstGeom prst="line">
            <a:avLst/>
          </a:prstGeom>
          <a:ln>
            <a:solidFill>
              <a:schemeClr val="bg2">
                <a:lumMod val="50000"/>
              </a:schemeClr>
            </a:solidFill>
          </a:ln>
        </p:spPr>
        <p:style>
          <a:lnRef idx="1">
            <a:schemeClr val="accent4"/>
          </a:lnRef>
          <a:fillRef idx="0">
            <a:schemeClr val="accent4"/>
          </a:fillRef>
          <a:effectRef idx="0">
            <a:schemeClr val="accent4"/>
          </a:effectRef>
          <a:fontRef idx="minor">
            <a:schemeClr val="tx1"/>
          </a:fontRef>
        </p:style>
      </p:cxnSp>
      <p:cxnSp>
        <p:nvCxnSpPr>
          <p:cNvPr id="9" name="Straight Connector 8"/>
          <p:cNvCxnSpPr/>
          <p:nvPr userDrawn="1"/>
        </p:nvCxnSpPr>
        <p:spPr>
          <a:xfrm>
            <a:off x="107504" y="1063229"/>
            <a:ext cx="2565891" cy="0"/>
          </a:xfrm>
          <a:prstGeom prst="line">
            <a:avLst/>
          </a:prstGeom>
          <a:ln>
            <a:solidFill>
              <a:schemeClr val="bg2">
                <a:lumMod val="50000"/>
              </a:schemeClr>
            </a:solidFill>
          </a:ln>
        </p:spPr>
        <p:style>
          <a:lnRef idx="1">
            <a:schemeClr val="accent4"/>
          </a:lnRef>
          <a:fillRef idx="0">
            <a:schemeClr val="accent4"/>
          </a:fillRef>
          <a:effectRef idx="0">
            <a:schemeClr val="accent4"/>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7504" y="1216634"/>
            <a:ext cx="4388296" cy="3443348"/>
          </a:xfrm>
        </p:spPr>
        <p:txBody>
          <a:bodyPr anchor="ctr"/>
          <a:lstStyle>
            <a:lvl1pPr>
              <a:defRPr sz="2800">
                <a:solidFill>
                  <a:schemeClr val="tx1"/>
                </a:solidFill>
                <a:latin typeface="Roboto" panose="02000000000000000000" pitchFamily="2" charset="0"/>
                <a:ea typeface="Roboto" panose="02000000000000000000" pitchFamily="2" charset="0"/>
              </a:defRPr>
            </a:lvl1pPr>
            <a:lvl2pPr>
              <a:defRPr sz="2400">
                <a:solidFill>
                  <a:schemeClr val="accent6">
                    <a:lumMod val="50000"/>
                  </a:schemeClr>
                </a:solidFill>
                <a:latin typeface="Roboto" panose="02000000000000000000" pitchFamily="2" charset="0"/>
                <a:ea typeface="Roboto" panose="02000000000000000000" pitchFamily="2" charset="0"/>
              </a:defRPr>
            </a:lvl2pPr>
            <a:lvl3pPr>
              <a:defRPr sz="2000">
                <a:solidFill>
                  <a:srgbClr val="1F0D2D"/>
                </a:solidFill>
                <a:latin typeface="Roboto" panose="02000000000000000000" pitchFamily="2" charset="0"/>
                <a:ea typeface="Roboto" panose="02000000000000000000" pitchFamily="2" charset="0"/>
              </a:defRPr>
            </a:lvl3pPr>
            <a:lvl4pPr>
              <a:defRPr sz="1800">
                <a:solidFill>
                  <a:srgbClr val="C00000"/>
                </a:solidFill>
                <a:latin typeface="Roboto" panose="02000000000000000000" pitchFamily="2" charset="0"/>
                <a:ea typeface="Roboto" panose="02000000000000000000" pitchFamily="2" charset="0"/>
              </a:defRPr>
            </a:lvl4pPr>
            <a:lvl5pPr>
              <a:defRPr sz="1800">
                <a:solidFill>
                  <a:srgbClr val="7030A0"/>
                </a:solidFill>
                <a:latin typeface="Roboto" panose="02000000000000000000" pitchFamily="2" charset="0"/>
                <a:ea typeface="Roboto" panose="02000000000000000000" pitchFamily="2"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4" name="Content Placeholder 3"/>
          <p:cNvSpPr>
            <a:spLocks noGrp="1"/>
          </p:cNvSpPr>
          <p:nvPr>
            <p:ph sz="half" idx="2"/>
          </p:nvPr>
        </p:nvSpPr>
        <p:spPr>
          <a:xfrm>
            <a:off x="4648200" y="1250330"/>
            <a:ext cx="4388296" cy="3409652"/>
          </a:xfrm>
        </p:spPr>
        <p:txBody>
          <a:bodyPr anchor="ctr"/>
          <a:lstStyle>
            <a:lvl1pPr>
              <a:defRPr sz="2800">
                <a:solidFill>
                  <a:schemeClr val="tx1"/>
                </a:solidFill>
                <a:latin typeface="Roboto" panose="02000000000000000000" pitchFamily="2" charset="0"/>
                <a:ea typeface="Roboto" panose="02000000000000000000" pitchFamily="2" charset="0"/>
              </a:defRPr>
            </a:lvl1pPr>
            <a:lvl2pPr>
              <a:defRPr sz="2400">
                <a:solidFill>
                  <a:schemeClr val="accent6">
                    <a:lumMod val="50000"/>
                  </a:schemeClr>
                </a:solidFill>
                <a:latin typeface="Roboto" panose="02000000000000000000" pitchFamily="2" charset="0"/>
                <a:ea typeface="Roboto" panose="02000000000000000000" pitchFamily="2" charset="0"/>
              </a:defRPr>
            </a:lvl2pPr>
            <a:lvl3pPr>
              <a:defRPr sz="2000">
                <a:solidFill>
                  <a:srgbClr val="1F0D2D"/>
                </a:solidFill>
                <a:latin typeface="Roboto" panose="02000000000000000000" pitchFamily="2" charset="0"/>
                <a:ea typeface="Roboto" panose="02000000000000000000" pitchFamily="2" charset="0"/>
              </a:defRPr>
            </a:lvl3pPr>
            <a:lvl4pPr>
              <a:defRPr sz="1800">
                <a:solidFill>
                  <a:srgbClr val="C00000"/>
                </a:solidFill>
                <a:latin typeface="Roboto" panose="02000000000000000000" pitchFamily="2" charset="0"/>
                <a:ea typeface="Roboto" panose="02000000000000000000" pitchFamily="2" charset="0"/>
              </a:defRPr>
            </a:lvl4pPr>
            <a:lvl5pPr>
              <a:defRPr sz="1800">
                <a:solidFill>
                  <a:srgbClr val="7030A0"/>
                </a:solidFill>
                <a:latin typeface="Roboto" panose="02000000000000000000" pitchFamily="2" charset="0"/>
                <a:ea typeface="Roboto" panose="02000000000000000000" pitchFamily="2" charset="0"/>
              </a:defRPr>
            </a:lvl5pPr>
            <a:lvl6pPr>
              <a:defRPr sz="1800"/>
            </a:lvl6pPr>
            <a:lvl7pPr>
              <a:defRPr sz="1800"/>
            </a:lvl7pPr>
            <a:lvl8pPr>
              <a:defRPr sz="1800"/>
            </a:lvl8pPr>
            <a:lvl9pPr>
              <a:defRPr sz="18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12" name="Slide Number Placeholder 5"/>
          <p:cNvSpPr>
            <a:spLocks noGrp="1"/>
          </p:cNvSpPr>
          <p:nvPr>
            <p:ph type="sldNum" sz="quarter" idx="12"/>
          </p:nvPr>
        </p:nvSpPr>
        <p:spPr>
          <a:xfrm>
            <a:off x="3505200" y="4818186"/>
            <a:ext cx="2133600" cy="273844"/>
          </a:xfrm>
        </p:spPr>
        <p:txBody>
          <a:bodyPr/>
          <a:lstStyle>
            <a:lvl1pPr algn="ctr">
              <a:defRPr sz="1600" b="1">
                <a:solidFill>
                  <a:schemeClr val="bg1"/>
                </a:solidFill>
                <a:latin typeface="Book Antiqua" panose="02040602050305030304" pitchFamily="18" charset="0"/>
              </a:defRPr>
            </a:lvl1pPr>
          </a:lstStyle>
          <a:p>
            <a:fld id="{B2D481B8-F12E-4FB9-A3A8-66EE472E4641}" type="slidenum">
              <a:rPr lang="en-GB" smtClean="0"/>
            </a:fld>
            <a:endParaRPr lang="en-GB"/>
          </a:p>
        </p:txBody>
      </p:sp>
      <p:pic>
        <p:nvPicPr>
          <p:cNvPr id="9" name="Picture 2" descr="C:\Users\Ours\Desktop\flash\c.u..jpg"/>
          <p:cNvPicPr>
            <a:picLocks noChangeAspect="1" noChangeArrowheads="1"/>
          </p:cNvPicPr>
          <p:nvPr userDrawn="1"/>
        </p:nvPicPr>
        <p:blipFill rotWithShape="1">
          <a:blip r:embed="rId2" cstate="print">
            <a:duotone>
              <a:prstClr val="black"/>
              <a:schemeClr val="accent6">
                <a:tint val="45000"/>
                <a:satMod val="400000"/>
              </a:schemeClr>
            </a:duotone>
          </a:blip>
          <a:srcRect t="41078" b="51590"/>
          <a:stretch>
            <a:fillRect/>
          </a:stretch>
        </p:blipFill>
        <p:spPr bwMode="auto">
          <a:xfrm>
            <a:off x="-36512" y="4701003"/>
            <a:ext cx="9209063" cy="448868"/>
          </a:xfrm>
          <a:prstGeom prst="rect">
            <a:avLst/>
          </a:prstGeom>
          <a:noFill/>
        </p:spPr>
      </p:pic>
      <p:sp>
        <p:nvSpPr>
          <p:cNvPr id="11" name="Title 1"/>
          <p:cNvSpPr>
            <a:spLocks noGrp="1"/>
          </p:cNvSpPr>
          <p:nvPr>
            <p:ph type="title"/>
          </p:nvPr>
        </p:nvSpPr>
        <p:spPr>
          <a:xfrm>
            <a:off x="107504" y="205979"/>
            <a:ext cx="8928992" cy="857250"/>
          </a:xfrm>
        </p:spPr>
        <p:txBody>
          <a:bodyPr>
            <a:normAutofit/>
          </a:bodyPr>
          <a:lstStyle>
            <a:lvl1pPr algn="l">
              <a:defRPr sz="4000" b="1">
                <a:solidFill>
                  <a:schemeClr val="tx1"/>
                </a:solidFill>
                <a:latin typeface="Convection" panose="020B0604040501040203" pitchFamily="34" charset="0"/>
              </a:defRPr>
            </a:lvl1pPr>
          </a:lstStyle>
          <a:p>
            <a:r>
              <a:rPr lang="en-US" dirty="0"/>
              <a:t>Click to edit Master title style</a:t>
            </a:r>
            <a:endParaRPr lang="en-GB" dirty="0"/>
          </a:p>
        </p:txBody>
      </p:sp>
      <p:cxnSp>
        <p:nvCxnSpPr>
          <p:cNvPr id="16" name="Straight Connector 15"/>
          <p:cNvCxnSpPr/>
          <p:nvPr userDrawn="1"/>
        </p:nvCxnSpPr>
        <p:spPr>
          <a:xfrm>
            <a:off x="0" y="195486"/>
            <a:ext cx="9144000" cy="0"/>
          </a:xfrm>
          <a:prstGeom prst="line">
            <a:avLst/>
          </a:prstGeom>
          <a:ln>
            <a:solidFill>
              <a:schemeClr val="bg2">
                <a:lumMod val="50000"/>
              </a:schemeClr>
            </a:solidFill>
          </a:ln>
        </p:spPr>
        <p:style>
          <a:lnRef idx="1">
            <a:schemeClr val="accent4"/>
          </a:lnRef>
          <a:fillRef idx="0">
            <a:schemeClr val="accent4"/>
          </a:fillRef>
          <a:effectRef idx="0">
            <a:schemeClr val="accent4"/>
          </a:effectRef>
          <a:fontRef idx="minor">
            <a:schemeClr val="tx1"/>
          </a:fontRef>
        </p:style>
      </p:cxnSp>
      <p:cxnSp>
        <p:nvCxnSpPr>
          <p:cNvPr id="17" name="Straight Connector 16"/>
          <p:cNvCxnSpPr/>
          <p:nvPr userDrawn="1"/>
        </p:nvCxnSpPr>
        <p:spPr>
          <a:xfrm>
            <a:off x="107504" y="1063229"/>
            <a:ext cx="2565891" cy="0"/>
          </a:xfrm>
          <a:prstGeom prst="line">
            <a:avLst/>
          </a:prstGeom>
          <a:ln>
            <a:solidFill>
              <a:schemeClr val="bg2">
                <a:lumMod val="50000"/>
              </a:schemeClr>
            </a:solidFill>
          </a:ln>
        </p:spPr>
        <p:style>
          <a:lnRef idx="1">
            <a:schemeClr val="accent4"/>
          </a:lnRef>
          <a:fillRef idx="0">
            <a:schemeClr val="accent4"/>
          </a:fillRef>
          <a:effectRef idx="0">
            <a:schemeClr val="accent4"/>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17" name="Picture 2" descr="C:\Users\Ours\Desktop\flash\c.u..jpg"/>
          <p:cNvPicPr>
            <a:picLocks noChangeAspect="1" noChangeArrowheads="1"/>
          </p:cNvPicPr>
          <p:nvPr userDrawn="1"/>
        </p:nvPicPr>
        <p:blipFill rotWithShape="1">
          <a:blip r:embed="rId2" cstate="print">
            <a:duotone>
              <a:prstClr val="black"/>
              <a:schemeClr val="accent6">
                <a:tint val="45000"/>
                <a:satMod val="400000"/>
              </a:schemeClr>
            </a:duotone>
          </a:blip>
          <a:srcRect t="41078" b="51590"/>
          <a:stretch>
            <a:fillRect/>
          </a:stretch>
        </p:blipFill>
        <p:spPr bwMode="auto">
          <a:xfrm>
            <a:off x="-36512" y="4701003"/>
            <a:ext cx="9209063" cy="448868"/>
          </a:xfrm>
          <a:prstGeom prst="rect">
            <a:avLst/>
          </a:prstGeom>
          <a:noFill/>
        </p:spPr>
      </p:pic>
      <p:sp>
        <p:nvSpPr>
          <p:cNvPr id="16" name="Slide Number Placeholder 5"/>
          <p:cNvSpPr>
            <a:spLocks noGrp="1"/>
          </p:cNvSpPr>
          <p:nvPr>
            <p:ph type="sldNum" sz="quarter" idx="12"/>
          </p:nvPr>
        </p:nvSpPr>
        <p:spPr>
          <a:xfrm>
            <a:off x="3505200" y="4818186"/>
            <a:ext cx="2133600" cy="273844"/>
          </a:xfrm>
        </p:spPr>
        <p:txBody>
          <a:bodyPr/>
          <a:lstStyle>
            <a:lvl1pPr algn="ctr">
              <a:defRPr sz="1600" b="1">
                <a:solidFill>
                  <a:schemeClr val="bg1"/>
                </a:solidFill>
                <a:latin typeface="Book Antiqua" panose="02040602050305030304" pitchFamily="18" charset="0"/>
              </a:defRPr>
            </a:lvl1pPr>
          </a:lstStyle>
          <a:p>
            <a:fld id="{B2D481B8-F12E-4FB9-A3A8-66EE472E4641}" type="slidenum">
              <a:rPr lang="en-GB" smtClean="0"/>
            </a:fld>
            <a:endParaRPr lang="en-GB"/>
          </a:p>
        </p:txBody>
      </p:sp>
      <p:sp>
        <p:nvSpPr>
          <p:cNvPr id="18" name="Title 1"/>
          <p:cNvSpPr>
            <a:spLocks noGrp="1"/>
          </p:cNvSpPr>
          <p:nvPr>
            <p:ph type="title"/>
          </p:nvPr>
        </p:nvSpPr>
        <p:spPr>
          <a:xfrm>
            <a:off x="107504" y="205979"/>
            <a:ext cx="8928992" cy="857250"/>
          </a:xfrm>
        </p:spPr>
        <p:txBody>
          <a:bodyPr>
            <a:normAutofit/>
          </a:bodyPr>
          <a:lstStyle>
            <a:lvl1pPr algn="l">
              <a:defRPr sz="4000" b="1">
                <a:solidFill>
                  <a:schemeClr val="tx1"/>
                </a:solidFill>
                <a:latin typeface="Convection" panose="020B0604040501040203" pitchFamily="34" charset="0"/>
              </a:defRPr>
            </a:lvl1pPr>
          </a:lstStyle>
          <a:p>
            <a:r>
              <a:rPr lang="en-US" dirty="0"/>
              <a:t>Click to edit Master title style</a:t>
            </a:r>
            <a:endParaRPr lang="en-GB" dirty="0"/>
          </a:p>
        </p:txBody>
      </p:sp>
      <p:cxnSp>
        <p:nvCxnSpPr>
          <p:cNvPr id="19" name="Straight Connector 18"/>
          <p:cNvCxnSpPr/>
          <p:nvPr userDrawn="1"/>
        </p:nvCxnSpPr>
        <p:spPr>
          <a:xfrm>
            <a:off x="0" y="195486"/>
            <a:ext cx="9144000" cy="0"/>
          </a:xfrm>
          <a:prstGeom prst="line">
            <a:avLst/>
          </a:prstGeom>
          <a:ln>
            <a:solidFill>
              <a:schemeClr val="bg2">
                <a:lumMod val="50000"/>
              </a:schemeClr>
            </a:solidFill>
          </a:ln>
        </p:spPr>
        <p:style>
          <a:lnRef idx="1">
            <a:schemeClr val="accent4"/>
          </a:lnRef>
          <a:fillRef idx="0">
            <a:schemeClr val="accent4"/>
          </a:fillRef>
          <a:effectRef idx="0">
            <a:schemeClr val="accent4"/>
          </a:effectRef>
          <a:fontRef idx="minor">
            <a:schemeClr val="tx1"/>
          </a:fontRef>
        </p:style>
      </p:cxnSp>
      <p:cxnSp>
        <p:nvCxnSpPr>
          <p:cNvPr id="20" name="Straight Connector 19"/>
          <p:cNvCxnSpPr/>
          <p:nvPr userDrawn="1"/>
        </p:nvCxnSpPr>
        <p:spPr>
          <a:xfrm>
            <a:off x="107504" y="1063229"/>
            <a:ext cx="2565891" cy="0"/>
          </a:xfrm>
          <a:prstGeom prst="line">
            <a:avLst/>
          </a:prstGeom>
          <a:ln>
            <a:solidFill>
              <a:schemeClr val="bg2">
                <a:lumMod val="50000"/>
              </a:schemeClr>
            </a:solidFill>
          </a:ln>
        </p:spPr>
        <p:style>
          <a:lnRef idx="1">
            <a:schemeClr val="accent4"/>
          </a:lnRef>
          <a:fillRef idx="0">
            <a:schemeClr val="accent4"/>
          </a:fillRef>
          <a:effectRef idx="0">
            <a:schemeClr val="accent4"/>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2" descr="C:\Users\Ours\Desktop\flash\c.u..jpg"/>
          <p:cNvPicPr>
            <a:picLocks noChangeAspect="1" noChangeArrowheads="1"/>
          </p:cNvPicPr>
          <p:nvPr userDrawn="1"/>
        </p:nvPicPr>
        <p:blipFill rotWithShape="1">
          <a:blip r:embed="rId2" cstate="print">
            <a:duotone>
              <a:prstClr val="black"/>
              <a:schemeClr val="accent6">
                <a:tint val="45000"/>
                <a:satMod val="400000"/>
              </a:schemeClr>
            </a:duotone>
          </a:blip>
          <a:srcRect t="41078" b="51590"/>
          <a:stretch>
            <a:fillRect/>
          </a:stretch>
        </p:blipFill>
        <p:spPr bwMode="auto">
          <a:xfrm>
            <a:off x="-36512" y="4701003"/>
            <a:ext cx="9209063" cy="448868"/>
          </a:xfrm>
          <a:prstGeom prst="rect">
            <a:avLst/>
          </a:prstGeom>
          <a:noFill/>
        </p:spPr>
      </p:pic>
      <p:sp>
        <p:nvSpPr>
          <p:cNvPr id="5" name="Slide Number Placeholder 5"/>
          <p:cNvSpPr>
            <a:spLocks noGrp="1"/>
          </p:cNvSpPr>
          <p:nvPr>
            <p:ph type="sldNum" sz="quarter" idx="12"/>
          </p:nvPr>
        </p:nvSpPr>
        <p:spPr>
          <a:xfrm>
            <a:off x="3505200" y="4818186"/>
            <a:ext cx="2133600" cy="273844"/>
          </a:xfrm>
        </p:spPr>
        <p:txBody>
          <a:bodyPr/>
          <a:lstStyle>
            <a:lvl1pPr algn="ctr">
              <a:defRPr sz="1600" b="1">
                <a:solidFill>
                  <a:schemeClr val="bg1"/>
                </a:solidFill>
                <a:latin typeface="Book Antiqua" panose="02040602050305030304" pitchFamily="18" charset="0"/>
              </a:defRPr>
            </a:lvl1pPr>
          </a:lstStyle>
          <a:p>
            <a:fld id="{B2D481B8-F12E-4FB9-A3A8-66EE472E4641}"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2D481B8-F12E-4FB9-A3A8-66EE472E4641}"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sv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88264" y="411189"/>
            <a:ext cx="4896544" cy="2160809"/>
          </a:xfrm>
        </p:spPr>
        <p:txBody>
          <a:bodyPr/>
          <a:lstStyle/>
          <a:p>
            <a:r>
              <a:rPr sz="1800"/>
              <a:t>Enhanced Artificial Rabbit Optimization Algorithm for Solving the University Course Timetabling Problem:</a:t>
            </a:r>
            <a:endParaRPr sz="1800"/>
          </a:p>
          <a:p>
            <a:r>
              <a:rPr sz="1800"/>
              <a:t>A Comparative Analysis with Existing Metaheuristics</a:t>
            </a:r>
            <a:endParaRPr sz="1800"/>
          </a:p>
        </p:txBody>
      </p:sp>
      <p:sp>
        <p:nvSpPr>
          <p:cNvPr id="3" name="Subtitle 2"/>
          <p:cNvSpPr>
            <a:spLocks noGrp="1"/>
          </p:cNvSpPr>
          <p:nvPr>
            <p:ph type="subTitle" idx="1"/>
          </p:nvPr>
        </p:nvSpPr>
        <p:spPr/>
        <p:txBody>
          <a:bodyPr>
            <a:noAutofit/>
          </a:bodyPr>
          <a:lstStyle/>
          <a:p>
            <a:endParaRPr sz="1600"/>
          </a:p>
          <a:p>
            <a:r>
              <a:rPr sz="1600"/>
              <a:t>Olufunso David Oluwadarasimi    22CG031924</a:t>
            </a:r>
            <a:endParaRPr sz="1600"/>
          </a:p>
          <a:p>
            <a:r>
              <a:rPr sz="1600"/>
              <a:t>Department of Computer &amp; Information Sciences</a:t>
            </a:r>
            <a:endParaRPr sz="1600"/>
          </a:p>
          <a:p>
            <a:r>
              <a:rPr sz="1600"/>
              <a:t>Covenant University, Ota, Ogun State</a:t>
            </a:r>
            <a:endParaRPr sz="1600"/>
          </a:p>
          <a:p>
            <a:r>
              <a:rPr sz="1600"/>
              <a:t>Supervisor: Miss Ti-Jesu Tunde-Adeleke  |  </a:t>
            </a:r>
            <a:endParaRPr sz="1600"/>
          </a:p>
          <a:p>
            <a:r>
              <a:rPr sz="1600"/>
              <a:t>June 2026</a:t>
            </a:r>
            <a:endParaRPr sz="1600"/>
          </a:p>
        </p:txBody>
      </p:sp>
      <p:sp>
        <p:nvSpPr>
          <p:cNvPr id="4" name="Subtitle 2"/>
          <p:cNvSpPr txBox="1"/>
          <p:nvPr/>
        </p:nvSpPr>
        <p:spPr>
          <a:xfrm>
            <a:off x="4067944" y="3940471"/>
            <a:ext cx="2664296" cy="720080"/>
          </a:xfrm>
          <a:prstGeom prst="rect">
            <a:avLst/>
          </a:prstGeom>
          <a:noFill/>
        </p:spPr>
        <p:txBody>
          <a:bodyPr vert="horz" lIns="91440" tIns="45720" rIns="91440" bIns="45720" rtlCol="0" anchor="ctr">
            <a:normAutofit/>
          </a:bodyPr>
          <a:lstStyle>
            <a:lvl1pPr marL="0" indent="0" algn="l" defTabSz="914400" rtl="0" eaLnBrk="1" latinLnBrk="0" hangingPunct="1">
              <a:spcBef>
                <a:spcPct val="20000"/>
              </a:spcBef>
              <a:buFont typeface="Arial" panose="020B0604020202020204" pitchFamily="34" charset="0"/>
              <a:buNone/>
              <a:defRPr sz="2000" kern="1200">
                <a:solidFill>
                  <a:schemeClr val="tx1"/>
                </a:solidFill>
                <a:latin typeface="Roboto" panose="02000000000000000000" pitchFamily="2" charset="0"/>
                <a:ea typeface="Roboto" panose="02000000000000000000" pitchFamily="2" charset="0"/>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2000" advTm="6431"/>
    </mc:Choice>
    <mc:Fallback>
      <p:transition spd="slow" advTm="64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Presentation Outline</a:t>
            </a:r>
          </a:p>
        </p:txBody>
      </p:sp>
      <p:sp>
        <p:nvSpPr>
          <p:cNvPr id="3" name="Content Placeholder 2"/>
          <p:cNvSpPr>
            <a:spLocks noGrp="1"/>
          </p:cNvSpPr>
          <p:nvPr>
            <p:ph idx="1"/>
          </p:nvPr>
        </p:nvSpPr>
        <p:spPr/>
        <p:txBody>
          <a:bodyPr numCol="2">
            <a:normAutofit/>
          </a:bodyPr>
          <a:lstStyle/>
          <a:p>
            <a:r>
              <a:rPr sz="1700"/>
              <a:t>Introduction </a:t>
            </a:r>
            <a:endParaRPr sz="1700"/>
          </a:p>
          <a:p>
            <a:r>
              <a:rPr sz="1700"/>
              <a:t>Literature Review</a:t>
            </a:r>
            <a:endParaRPr sz="1700"/>
          </a:p>
          <a:p>
            <a:r>
              <a:rPr sz="1700"/>
              <a:t>Statement of Problem</a:t>
            </a:r>
            <a:endParaRPr sz="1700"/>
          </a:p>
          <a:p>
            <a:r>
              <a:rPr sz="1700"/>
              <a:t>Aim</a:t>
            </a:r>
            <a:endParaRPr sz="1700"/>
          </a:p>
          <a:p>
            <a:r>
              <a:rPr sz="1700"/>
              <a:t>Objectives</a:t>
            </a:r>
            <a:endParaRPr sz="1700"/>
          </a:p>
          <a:p>
            <a:r>
              <a:rPr sz="1700"/>
              <a:t>Methodology</a:t>
            </a:r>
            <a:endParaRPr sz="1700"/>
          </a:p>
          <a:p>
            <a:r>
              <a:rPr sz="1700"/>
              <a:t>Results</a:t>
            </a:r>
            <a:endParaRPr sz="1700"/>
          </a:p>
          <a:p>
            <a:r>
              <a:rPr sz="1700"/>
              <a:t>Contribution &amp; Significance</a:t>
            </a:r>
            <a:endParaRPr sz="1700"/>
          </a:p>
          <a:p>
            <a:r>
              <a:rPr sz="1700"/>
              <a:t>Conclusion</a:t>
            </a:r>
            <a:endParaRPr sz="1700"/>
          </a:p>
          <a:p>
            <a:r>
              <a:rPr sz="1700"/>
              <a:t>References</a:t>
            </a:r>
            <a:endParaRPr sz="1700"/>
          </a:p>
          <a:p>
            <a:r>
              <a:rPr sz="1700"/>
              <a:t>Acknowledgement</a:t>
            </a:r>
            <a:endParaRPr sz="17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Background</a:t>
            </a:r>
          </a:p>
        </p:txBody>
      </p:sp>
      <p:sp>
        <p:nvSpPr>
          <p:cNvPr id="3" name="Content Placeholder 2"/>
          <p:cNvSpPr>
            <a:spLocks noGrp="1"/>
          </p:cNvSpPr>
          <p:nvPr>
            <p:ph idx="1"/>
          </p:nvPr>
        </p:nvSpPr>
        <p:spPr/>
        <p:txBody>
          <a:bodyPr/>
          <a:lstStyle/>
          <a:p>
            <a:r>
              <a:rPr lang="en-US" altLang="en-US" sz="1400"/>
              <a:t>University Course Timetabling involves assigning courses, instructors, students, and rooms to timeslots to avoid clashes. The goal is to create a feasible schedule where no instructor teaches two courses simultaneously, no student has conflicting course times, and all courses fit into available classrooms.</a:t>
            </a:r>
            <a:endParaRPr lang="en-US" altLang="en-US" sz="14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15" y="205740"/>
            <a:ext cx="8928735" cy="461645"/>
          </a:xfrm>
        </p:spPr>
        <p:txBody>
          <a:bodyPr>
            <a:normAutofit fontScale="90000"/>
          </a:bodyPr>
          <a:lstStyle/>
          <a:p>
            <a:r>
              <a:t>Literature Review</a:t>
            </a:r>
          </a:p>
        </p:txBody>
      </p:sp>
      <p:sp>
        <p:nvSpPr>
          <p:cNvPr id="3" name="Content Placeholder 2"/>
          <p:cNvSpPr>
            <a:spLocks noGrp="1"/>
          </p:cNvSpPr>
          <p:nvPr>
            <p:ph idx="1"/>
          </p:nvPr>
        </p:nvSpPr>
        <p:spPr/>
        <p:txBody>
          <a:bodyPr/>
          <a:lstStyle/>
          <a:p/>
        </p:txBody>
      </p:sp>
      <p:sp>
        <p:nvSpPr>
          <p:cNvPr id="4" name="Slide Number Placeholder 3"/>
          <p:cNvSpPr>
            <a:spLocks noGrp="1"/>
          </p:cNvSpPr>
          <p:nvPr>
            <p:ph type="sldNum" sz="quarter" idx="12"/>
          </p:nvPr>
        </p:nvSpPr>
        <p:spPr/>
        <p:txBody>
          <a:bodyPr/>
          <a:lstStyle/>
          <a:p>
            <a:r>
              <a:rPr lang="en-US"/>
              <a:t>4</a:t>
            </a:r>
            <a:endParaRPr lang="en-US"/>
          </a:p>
        </p:txBody>
      </p:sp>
      <p:graphicFrame>
        <p:nvGraphicFramePr>
          <p:cNvPr id="5" name="Table 4"/>
          <p:cNvGraphicFramePr>
            <a:graphicFrameLocks noGrp="1"/>
          </p:cNvGraphicFramePr>
          <p:nvPr>
            <p:custDataLst>
              <p:tags r:id="rId1"/>
            </p:custDataLst>
          </p:nvPr>
        </p:nvGraphicFramePr>
        <p:xfrm>
          <a:off x="179705" y="699135"/>
          <a:ext cx="8686800" cy="3935730"/>
        </p:xfrm>
        <a:graphic>
          <a:graphicData uri="http://schemas.openxmlformats.org/drawingml/2006/table">
            <a:tbl>
              <a:tblPr firstRow="1" bandRow="1">
                <a:tableStyleId>{5C22544A-7EE6-4342-B048-85BDC9FD1C3A}</a:tableStyleId>
              </a:tblPr>
              <a:tblGrid>
                <a:gridCol w="2171700"/>
                <a:gridCol w="2171700"/>
                <a:gridCol w="2171700"/>
                <a:gridCol w="2171700"/>
              </a:tblGrid>
              <a:tr h="655955">
                <a:tc>
                  <a:txBody>
                    <a:bodyPr/>
                    <a:lstStyle/>
                    <a:p>
                      <a:r>
                        <a:rPr sz="900" b="1">
                          <a:solidFill>
                            <a:srgbClr val="FFFFFF"/>
                          </a:solidFill>
                        </a:rPr>
                        <a:t>Author(s) &amp; Year</a:t>
                      </a:r>
                      <a:endParaRPr sz="900" b="1">
                        <a:solidFill>
                          <a:srgbClr val="FFFFFF"/>
                        </a:solidFill>
                      </a:endParaRPr>
                    </a:p>
                  </a:txBody>
                  <a:tcPr>
                    <a:solidFill>
                      <a:srgbClr val="1F3564"/>
                    </a:solidFill>
                  </a:tcPr>
                </a:tc>
                <a:tc>
                  <a:txBody>
                    <a:bodyPr/>
                    <a:lstStyle/>
                    <a:p>
                      <a:r>
                        <a:rPr sz="900" b="1">
                          <a:solidFill>
                            <a:srgbClr val="FFFFFF"/>
                          </a:solidFill>
                        </a:rPr>
                        <a:t>Problem Considered</a:t>
                      </a:r>
                      <a:endParaRPr sz="900" b="1">
                        <a:solidFill>
                          <a:srgbClr val="FFFFFF"/>
                        </a:solidFill>
                      </a:endParaRPr>
                    </a:p>
                  </a:txBody>
                  <a:tcPr>
                    <a:solidFill>
                      <a:srgbClr val="1F3564"/>
                    </a:solidFill>
                  </a:tcPr>
                </a:tc>
                <a:tc>
                  <a:txBody>
                    <a:bodyPr/>
                    <a:lstStyle/>
                    <a:p>
                      <a:r>
                        <a:rPr sz="900" b="1">
                          <a:solidFill>
                            <a:srgbClr val="FFFFFF"/>
                          </a:solidFill>
                        </a:rPr>
                        <a:t>Method Used</a:t>
                      </a:r>
                      <a:endParaRPr sz="900" b="1">
                        <a:solidFill>
                          <a:srgbClr val="FFFFFF"/>
                        </a:solidFill>
                      </a:endParaRPr>
                    </a:p>
                  </a:txBody>
                  <a:tcPr>
                    <a:solidFill>
                      <a:srgbClr val="1F3564"/>
                    </a:solidFill>
                  </a:tcPr>
                </a:tc>
                <a:tc>
                  <a:txBody>
                    <a:bodyPr/>
                    <a:lstStyle/>
                    <a:p>
                      <a:r>
                        <a:rPr sz="900" b="1">
                          <a:solidFill>
                            <a:srgbClr val="FFFFFF"/>
                          </a:solidFill>
                        </a:rPr>
                        <a:t>Gap Identified</a:t>
                      </a:r>
                      <a:endParaRPr sz="900" b="1">
                        <a:solidFill>
                          <a:srgbClr val="FFFFFF"/>
                        </a:solidFill>
                      </a:endParaRPr>
                    </a:p>
                  </a:txBody>
                  <a:tcPr>
                    <a:solidFill>
                      <a:srgbClr val="1F3564"/>
                    </a:solidFill>
                  </a:tcPr>
                </a:tc>
              </a:tr>
              <a:tr h="655955">
                <a:tc>
                  <a:txBody>
                    <a:bodyPr/>
                    <a:lstStyle/>
                    <a:p>
                      <a:r>
                        <a:rPr sz="900">
                          <a:solidFill>
                            <a:srgbClr val="000000"/>
                          </a:solidFill>
                        </a:rPr>
                        <a:t>Rezaeipanah et al. (2021)</a:t>
                      </a:r>
                      <a:endParaRPr sz="900">
                        <a:solidFill>
                          <a:srgbClr val="000000"/>
                        </a:solidFill>
                      </a:endParaRPr>
                    </a:p>
                  </a:txBody>
                  <a:tcPr/>
                </a:tc>
                <a:tc>
                  <a:txBody>
                    <a:bodyPr/>
                    <a:lstStyle/>
                    <a:p>
                      <a:r>
                        <a:rPr sz="900">
                          <a:solidFill>
                            <a:srgbClr val="000000"/>
                          </a:solidFill>
                        </a:rPr>
                        <a:t>UCTP — hard &amp; soft constraint satisfaction</a:t>
                      </a:r>
                      <a:endParaRPr sz="900">
                        <a:solidFill>
                          <a:srgbClr val="000000"/>
                        </a:solidFill>
                      </a:endParaRPr>
                    </a:p>
                  </a:txBody>
                  <a:tcPr/>
                </a:tc>
                <a:tc>
                  <a:txBody>
                    <a:bodyPr/>
                    <a:lstStyle/>
                    <a:p>
                      <a:r>
                        <a:rPr sz="900">
                          <a:solidFill>
                            <a:srgbClr val="000000"/>
                          </a:solidFill>
                        </a:rPr>
                        <a:t>Improved Parallel GA + Local Search (IPGALS)</a:t>
                      </a:r>
                      <a:endParaRPr sz="900">
                        <a:solidFill>
                          <a:srgbClr val="000000"/>
                        </a:solidFill>
                      </a:endParaRPr>
                    </a:p>
                  </a:txBody>
                  <a:tcPr/>
                </a:tc>
                <a:tc>
                  <a:txBody>
                    <a:bodyPr/>
                    <a:lstStyle/>
                    <a:p>
                      <a:r>
                        <a:rPr sz="900">
                          <a:solidFill>
                            <a:srgbClr val="000000"/>
                          </a:solidFill>
                        </a:rPr>
                        <a:t>High parameter sensitivity; no adaptive operator selection</a:t>
                      </a:r>
                      <a:endParaRPr sz="900">
                        <a:solidFill>
                          <a:srgbClr val="000000"/>
                        </a:solidFill>
                      </a:endParaRPr>
                    </a:p>
                  </a:txBody>
                  <a:tcPr/>
                </a:tc>
              </a:tr>
              <a:tr h="655955">
                <a:tc>
                  <a:txBody>
                    <a:bodyPr/>
                    <a:lstStyle/>
                    <a:p>
                      <a:r>
                        <a:rPr sz="900">
                          <a:solidFill>
                            <a:srgbClr val="000000"/>
                          </a:solidFill>
                        </a:rPr>
                        <a:t>Sylejmani et al. (2022)</a:t>
                      </a:r>
                      <a:endParaRPr sz="900">
                        <a:solidFill>
                          <a:srgbClr val="000000"/>
                        </a:solidFill>
                      </a:endParaRPr>
                    </a:p>
                  </a:txBody>
                  <a:tcPr>
                    <a:solidFill>
                      <a:srgbClr val="E8F0FE"/>
                    </a:solidFill>
                  </a:tcPr>
                </a:tc>
                <a:tc>
                  <a:txBody>
                    <a:bodyPr/>
                    <a:lstStyle/>
                    <a:p>
                      <a:r>
                        <a:rPr sz="900">
                          <a:solidFill>
                            <a:srgbClr val="000000"/>
                          </a:solidFill>
                        </a:rPr>
                        <a:t>Post-enrolment UCTP (ITC-2019)</a:t>
                      </a:r>
                      <a:endParaRPr sz="900">
                        <a:solidFill>
                          <a:srgbClr val="000000"/>
                        </a:solidFill>
                      </a:endParaRPr>
                    </a:p>
                  </a:txBody>
                  <a:tcPr>
                    <a:solidFill>
                      <a:srgbClr val="E8F0FE"/>
                    </a:solidFill>
                  </a:tcPr>
                </a:tc>
                <a:tc>
                  <a:txBody>
                    <a:bodyPr/>
                    <a:lstStyle/>
                    <a:p>
                      <a:r>
                        <a:rPr sz="900">
                          <a:solidFill>
                            <a:srgbClr val="000000"/>
                          </a:solidFill>
                        </a:rPr>
                        <a:t>Two-phase Simulated Annealing with penalisation</a:t>
                      </a:r>
                      <a:endParaRPr sz="900">
                        <a:solidFill>
                          <a:srgbClr val="000000"/>
                        </a:solidFill>
                      </a:endParaRPr>
                    </a:p>
                  </a:txBody>
                  <a:tcPr>
                    <a:solidFill>
                      <a:srgbClr val="E8F0FE"/>
                    </a:solidFill>
                  </a:tcPr>
                </a:tc>
                <a:tc>
                  <a:txBody>
                    <a:bodyPr/>
                    <a:lstStyle/>
                    <a:p>
                      <a:r>
                        <a:rPr sz="900">
                          <a:solidFill>
                            <a:srgbClr val="000000"/>
                          </a:solidFill>
                        </a:rPr>
                        <a:t>Slow convergence under limited evaluation budgets</a:t>
                      </a:r>
                      <a:endParaRPr sz="900">
                        <a:solidFill>
                          <a:srgbClr val="000000"/>
                        </a:solidFill>
                      </a:endParaRPr>
                    </a:p>
                  </a:txBody>
                  <a:tcPr>
                    <a:solidFill>
                      <a:srgbClr val="E8F0FE"/>
                    </a:solidFill>
                  </a:tcPr>
                </a:tc>
              </a:tr>
              <a:tr h="655955">
                <a:tc>
                  <a:txBody>
                    <a:bodyPr/>
                    <a:lstStyle/>
                    <a:p>
                      <a:r>
                        <a:rPr sz="900">
                          <a:solidFill>
                            <a:srgbClr val="000000"/>
                          </a:solidFill>
                        </a:rPr>
                        <a:t>Abdipoor et al. (2023)</a:t>
                      </a:r>
                      <a:endParaRPr sz="900">
                        <a:solidFill>
                          <a:srgbClr val="000000"/>
                        </a:solidFill>
                      </a:endParaRPr>
                    </a:p>
                  </a:txBody>
                  <a:tcPr/>
                </a:tc>
                <a:tc>
                  <a:txBody>
                    <a:bodyPr/>
                    <a:lstStyle/>
                    <a:p>
                      <a:r>
                        <a:rPr sz="900">
                          <a:solidFill>
                            <a:srgbClr val="000000"/>
                          </a:solidFill>
                        </a:rPr>
                        <a:t>UCTP with diverse constraint sets</a:t>
                      </a:r>
                      <a:endParaRPr sz="900">
                        <a:solidFill>
                          <a:srgbClr val="000000"/>
                        </a:solidFill>
                      </a:endParaRPr>
                    </a:p>
                  </a:txBody>
                  <a:tcPr/>
                </a:tc>
                <a:tc>
                  <a:txBody>
                    <a:bodyPr/>
                    <a:lstStyle/>
                    <a:p>
                      <a:r>
                        <a:rPr sz="900">
                          <a:solidFill>
                            <a:srgbClr val="000000"/>
                          </a:solidFill>
                        </a:rPr>
                        <a:t>Constructive Hyper-heuristic with adaptive pool</a:t>
                      </a:r>
                      <a:endParaRPr sz="900">
                        <a:solidFill>
                          <a:srgbClr val="000000"/>
                        </a:solidFill>
                      </a:endParaRPr>
                    </a:p>
                  </a:txBody>
                  <a:tcPr/>
                </a:tc>
                <a:tc>
                  <a:txBody>
                    <a:bodyPr/>
                    <a:lstStyle/>
                    <a:p>
                      <a:r>
                        <a:rPr sz="900">
                          <a:solidFill>
                            <a:srgbClr val="000000"/>
                          </a:solidFill>
                        </a:rPr>
                        <a:t>Requires diverse heuristic pool; limited scalability</a:t>
                      </a:r>
                      <a:endParaRPr sz="900">
                        <a:solidFill>
                          <a:srgbClr val="000000"/>
                        </a:solidFill>
                      </a:endParaRPr>
                    </a:p>
                  </a:txBody>
                  <a:tcPr/>
                </a:tc>
              </a:tr>
              <a:tr h="655955">
                <a:tc>
                  <a:txBody>
                    <a:bodyPr/>
                    <a:lstStyle/>
                    <a:p>
                      <a:r>
                        <a:rPr sz="900">
                          <a:solidFill>
                            <a:srgbClr val="000000"/>
                          </a:solidFill>
                        </a:rPr>
                        <a:t>Wang et al. (2022)</a:t>
                      </a:r>
                      <a:endParaRPr sz="900">
                        <a:solidFill>
                          <a:srgbClr val="000000"/>
                        </a:solidFill>
                      </a:endParaRPr>
                    </a:p>
                  </a:txBody>
                  <a:tcPr>
                    <a:solidFill>
                      <a:srgbClr val="E8F0FE"/>
                    </a:solidFill>
                  </a:tcPr>
                </a:tc>
                <a:tc>
                  <a:txBody>
                    <a:bodyPr/>
                    <a:lstStyle/>
                    <a:p>
                      <a:r>
                        <a:rPr sz="900">
                          <a:solidFill>
                            <a:srgbClr val="000000"/>
                          </a:solidFill>
                        </a:rPr>
                        <a:t>Continuous engineering optimisation</a:t>
                      </a:r>
                      <a:endParaRPr sz="900">
                        <a:solidFill>
                          <a:srgbClr val="000000"/>
                        </a:solidFill>
                      </a:endParaRPr>
                    </a:p>
                  </a:txBody>
                  <a:tcPr>
                    <a:solidFill>
                      <a:srgbClr val="E8F0FE"/>
                    </a:solidFill>
                  </a:tcPr>
                </a:tc>
                <a:tc>
                  <a:txBody>
                    <a:bodyPr/>
                    <a:lstStyle/>
                    <a:p>
                      <a:r>
                        <a:rPr sz="900">
                          <a:solidFill>
                            <a:srgbClr val="000000"/>
                          </a:solidFill>
                        </a:rPr>
                        <a:t>Artificial Rabbit Optimization (ARO)</a:t>
                      </a:r>
                      <a:endParaRPr sz="900">
                        <a:solidFill>
                          <a:srgbClr val="000000"/>
                        </a:solidFill>
                      </a:endParaRPr>
                    </a:p>
                  </a:txBody>
                  <a:tcPr>
                    <a:solidFill>
                      <a:srgbClr val="E8F0FE"/>
                    </a:solidFill>
                  </a:tcPr>
                </a:tc>
                <a:tc>
                  <a:txBody>
                    <a:bodyPr/>
                    <a:lstStyle/>
                    <a:p>
                      <a:r>
                        <a:rPr sz="900">
                          <a:solidFill>
                            <a:srgbClr val="000000"/>
                          </a:solidFill>
                        </a:rPr>
                        <a:t>Never applied to discrete/combinatorial scheduling</a:t>
                      </a:r>
                      <a:endParaRPr sz="900">
                        <a:solidFill>
                          <a:srgbClr val="000000"/>
                        </a:solidFill>
                      </a:endParaRPr>
                    </a:p>
                  </a:txBody>
                  <a:tcPr>
                    <a:solidFill>
                      <a:srgbClr val="E8F0FE"/>
                    </a:solidFill>
                  </a:tcPr>
                </a:tc>
              </a:tr>
              <a:tr h="655955">
                <a:tc>
                  <a:txBody>
                    <a:bodyPr/>
                    <a:lstStyle/>
                    <a:p>
                      <a:r>
                        <a:rPr sz="900">
                          <a:solidFill>
                            <a:srgbClr val="000000"/>
                          </a:solidFill>
                        </a:rPr>
                        <a:t>Davison et al. (2024)</a:t>
                      </a:r>
                      <a:endParaRPr sz="900">
                        <a:solidFill>
                          <a:srgbClr val="000000"/>
                        </a:solidFill>
                      </a:endParaRPr>
                    </a:p>
                  </a:txBody>
                  <a:tcPr/>
                </a:tc>
                <a:tc>
                  <a:txBody>
                    <a:bodyPr/>
                    <a:lstStyle/>
                    <a:p>
                      <a:r>
                        <a:rPr sz="900">
                          <a:solidFill>
                            <a:srgbClr val="000000"/>
                          </a:solidFill>
                        </a:rPr>
                        <a:t>UCTP with hybrid in-person &amp; online teaching</a:t>
                      </a:r>
                      <a:endParaRPr sz="900">
                        <a:solidFill>
                          <a:srgbClr val="000000"/>
                        </a:solidFill>
                      </a:endParaRPr>
                    </a:p>
                  </a:txBody>
                  <a:tcPr/>
                </a:tc>
                <a:tc>
                  <a:txBody>
                    <a:bodyPr/>
                    <a:lstStyle/>
                    <a:p>
                      <a:r>
                        <a:rPr sz="900">
                          <a:solidFill>
                            <a:srgbClr val="000000"/>
                          </a:solidFill>
                        </a:rPr>
                        <a:t>Mixed-Integer Linear Programming (MILP)</a:t>
                      </a:r>
                      <a:endParaRPr sz="900">
                        <a:solidFill>
                          <a:srgbClr val="000000"/>
                        </a:solidFill>
                      </a:endParaRPr>
                    </a:p>
                  </a:txBody>
                  <a:tcPr/>
                </a:tc>
                <a:tc>
                  <a:txBody>
                    <a:bodyPr/>
                    <a:lstStyle/>
                    <a:p>
                      <a:r>
                        <a:rPr sz="900">
                          <a:solidFill>
                            <a:srgbClr val="000000"/>
                          </a:solidFill>
                        </a:rPr>
                        <a:t>Computationally expensive; does not scale to NP-hard instances</a:t>
                      </a:r>
                      <a:endParaRPr sz="900">
                        <a:solidFill>
                          <a:srgbClr val="000000"/>
                        </a:solidFill>
                      </a:endParaRPr>
                    </a:p>
                  </a:txBody>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Statement of Problem</a:t>
            </a:r>
          </a:p>
        </p:txBody>
      </p:sp>
      <p:sp>
        <p:nvSpPr>
          <p:cNvPr id="3" name="Content Placeholder 2"/>
          <p:cNvSpPr>
            <a:spLocks noGrp="1"/>
          </p:cNvSpPr>
          <p:nvPr>
            <p:ph idx="1"/>
          </p:nvPr>
        </p:nvSpPr>
        <p:spPr/>
        <p:txBody>
          <a:bodyPr/>
          <a:lstStyle/>
          <a:p>
            <a:pPr marL="0" indent="0">
              <a:buNone/>
            </a:pPr>
            <a:r>
              <a:rPr lang="en-US" altLang="en-US" sz="1500"/>
              <a:t>Despite significant advances, universities continue to struggle with generating high-quality course timetables (Abdipoor et al., 2023; Alhakami &amp; Baz, 2020)</a:t>
            </a:r>
            <a:endParaRPr lang="en-US" altLang="en-US" sz="1500"/>
          </a:p>
          <a:p>
            <a:pPr marL="0" indent="0">
              <a:buNone/>
            </a:pPr>
            <a:r>
              <a:rPr lang="en-US" altLang="en-US" sz="1500"/>
              <a:t>Existing algorithms fail to effectively balance broad exploration with intensive local refinement, or incorporate domain-specific scheduling knowledge (Chen et al., 2021)</a:t>
            </a:r>
            <a:endParaRPr lang="en-US" altLang="en-US" sz="1500"/>
          </a:p>
          <a:p>
            <a:pPr marL="0" indent="0">
              <a:buNone/>
            </a:pPr>
            <a:r>
              <a:rPr lang="en-US" altLang="en-US" sz="1500"/>
              <a:t>ARO  is a powerful population-based optimizer (Wang et al., 2022) that  has not been reformulated for discrete, combinatorial timetabling spaces</a:t>
            </a:r>
            <a:endParaRPr lang="en-US" altLang="en-US" sz="1500"/>
          </a:p>
          <a:p>
            <a:pPr marL="0" indent="0">
              <a:buNone/>
            </a:pPr>
            <a:endParaRPr lang="en-US" altLang="en-US" sz="15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Aim of the Study</a:t>
            </a:r>
          </a:p>
        </p:txBody>
      </p:sp>
      <p:sp>
        <p:nvSpPr>
          <p:cNvPr id="3" name="Content Placeholder 2"/>
          <p:cNvSpPr>
            <a:spLocks noGrp="1"/>
          </p:cNvSpPr>
          <p:nvPr>
            <p:ph idx="1"/>
          </p:nvPr>
        </p:nvSpPr>
        <p:spPr/>
        <p:txBody>
          <a:bodyPr/>
          <a:lstStyle/>
          <a:p>
            <a:r>
              <a:rPr lang="en-US" altLang="en-US" sz="1600"/>
              <a:t>To Investigate the usability of enhanced Artificial Rabbit Optimization algorithm for solving University Course Timetabling Problem and to compare the performance of this adapted version with that of its continuous formulation and the well-known discrete metaheuristics.</a:t>
            </a:r>
            <a:endParaRPr lang="en-US" altLang="en-US" sz="16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 of the Study</a:t>
            </a:r>
          </a:p>
        </p:txBody>
      </p:sp>
      <p:sp>
        <p:nvSpPr>
          <p:cNvPr id="3" name="Content Placeholder 2"/>
          <p:cNvSpPr>
            <a:spLocks noGrp="1"/>
          </p:cNvSpPr>
          <p:nvPr>
            <p:ph idx="1"/>
          </p:nvPr>
        </p:nvSpPr>
        <p:spPr/>
        <p:txBody>
          <a:bodyPr/>
          <a:lstStyle/>
          <a:p>
            <a:pPr marL="514350" indent="-514350">
              <a:buFont typeface="+mj-lt"/>
              <a:buAutoNum type="romanLcPeriod"/>
            </a:pPr>
            <a:r>
              <a:rPr lang="en-US" altLang="en-US" sz="1600"/>
              <a:t> Examine the limitations of existing metaheuristics through structured Literature review</a:t>
            </a:r>
            <a:endParaRPr lang="en-US" altLang="en-US" sz="1600"/>
          </a:p>
          <a:p>
            <a:pPr marL="514350" indent="-514350">
              <a:buFont typeface="+mj-lt"/>
              <a:buAutoNum type="romanLcPeriod"/>
            </a:pPr>
            <a:r>
              <a:rPr lang="en-US" altLang="en-US" sz="1600"/>
              <a:t> Refinement and implementation of a reformulation of Artificial Rabbit Optimisation algorithm tailored for University Course Timetabling Problem</a:t>
            </a:r>
            <a:endParaRPr lang="en-US" altLang="en-US" sz="1600"/>
          </a:p>
          <a:p>
            <a:pPr marL="514350" indent="-514350">
              <a:buFont typeface="+mj-lt"/>
              <a:buAutoNum type="romanLcPeriod"/>
            </a:pPr>
            <a:r>
              <a:rPr lang="en-US" altLang="en-US" sz="1600"/>
              <a:t> Evaluation of  the usability of  Artificial Rabbit Optimisation Algorithm.</a:t>
            </a:r>
            <a:endParaRPr lang="en-US" altLang="en-US" sz="1600"/>
          </a:p>
          <a:p>
            <a:pPr marL="514350" indent="-514350">
              <a:buFont typeface="+mj-lt"/>
              <a:buAutoNum type="romanLcPeriod"/>
            </a:pPr>
            <a:r>
              <a:rPr lang="en-US" altLang="en-US" sz="1600"/>
              <a:t>Benchmarking the performance of the enhanced Artificial Rabbit Optimization algorithm against existing metaheuristics.</a:t>
            </a:r>
            <a:endParaRPr lang="en-US" altLang="en-US" sz="16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35" y="-163830"/>
            <a:ext cx="8928735" cy="1087755"/>
          </a:xfrm>
        </p:spPr>
        <p:txBody>
          <a:bodyPr/>
          <a:lstStyle/>
          <a:p>
            <a:r>
              <a:t>Methodology</a:t>
            </a:r>
          </a:p>
        </p:txBody>
      </p:sp>
      <p:sp>
        <p:nvSpPr>
          <p:cNvPr id="3" name="Content Placeholder 2"/>
          <p:cNvSpPr>
            <a:spLocks noGrp="1"/>
          </p:cNvSpPr>
          <p:nvPr>
            <p:ph idx="1"/>
          </p:nvPr>
        </p:nvSpPr>
        <p:spPr>
          <a:xfrm>
            <a:off x="107315" y="1586865"/>
            <a:ext cx="8928735" cy="3145155"/>
          </a:xfrm>
        </p:spPr>
        <p:txBody>
          <a:bodyPr>
            <a:normAutofit lnSpcReduction="10000"/>
          </a:bodyPr>
          <a:lstStyle/>
          <a:p/>
        </p:txBody>
      </p:sp>
      <p:sp>
        <p:nvSpPr>
          <p:cNvPr id="4" name="Slide Number Placeholder 3"/>
          <p:cNvSpPr>
            <a:spLocks noGrp="1"/>
          </p:cNvSpPr>
          <p:nvPr>
            <p:ph type="sldNum" sz="quarter" idx="12"/>
          </p:nvPr>
        </p:nvSpPr>
        <p:spPr/>
        <p:txBody>
          <a:bodyPr/>
          <a:lstStyle/>
          <a:p>
            <a:r>
              <a:rPr lang="en-US"/>
              <a:t>8</a:t>
            </a:r>
            <a:endParaRPr lang="en-US"/>
          </a:p>
        </p:txBody>
      </p:sp>
      <p:graphicFrame>
        <p:nvGraphicFramePr>
          <p:cNvPr id="5" name="Table 4"/>
          <p:cNvGraphicFramePr>
            <a:graphicFrameLocks noGrp="1"/>
          </p:cNvGraphicFramePr>
          <p:nvPr>
            <p:custDataLst>
              <p:tags r:id="rId1"/>
            </p:custDataLst>
          </p:nvPr>
        </p:nvGraphicFramePr>
        <p:xfrm>
          <a:off x="107950" y="1059815"/>
          <a:ext cx="8709660" cy="3425190"/>
        </p:xfrm>
        <a:graphic>
          <a:graphicData uri="http://schemas.openxmlformats.org/drawingml/2006/table">
            <a:tbl>
              <a:tblPr firstRow="1" bandRow="1">
                <a:tableStyleId>{5C22544A-7EE6-4342-B048-85BDC9FD1C3A}</a:tableStyleId>
              </a:tblPr>
              <a:tblGrid>
                <a:gridCol w="4354830"/>
                <a:gridCol w="4354830"/>
              </a:tblGrid>
              <a:tr h="401955">
                <a:tc>
                  <a:txBody>
                    <a:bodyPr/>
                    <a:lstStyle/>
                    <a:p>
                      <a:pPr marL="0" indent="0" algn="l" fontAlgn="t">
                        <a:lnSpc>
                          <a:spcPts val="1320"/>
                        </a:lnSpc>
                        <a:spcBef>
                          <a:spcPct val="0"/>
                        </a:spcBef>
                        <a:spcAft>
                          <a:spcPct val="0"/>
                        </a:spcAft>
                      </a:pPr>
                      <a:r>
                        <a:rPr sz="1100" b="0" i="0">
                          <a:latin typeface="-apple-system"/>
                          <a:ea typeface="-apple-system"/>
                        </a:rPr>
                        <a:t>Objective</a:t>
                      </a:r>
                      <a:endParaRPr sz="1100" b="0" i="0">
                        <a:latin typeface="-apple-system"/>
                        <a:ea typeface="-apple-system"/>
                      </a:endParaRPr>
                    </a:p>
                  </a:txBody>
                  <a:tcPr marL="122237" marR="122237" marT="76517" marB="76517" anchor="t" anchorCtr="0">
                    <a:solidFill>
                      <a:srgbClr val="1F3564"/>
                    </a:solidFill>
                  </a:tcPr>
                </a:tc>
                <a:tc>
                  <a:txBody>
                    <a:bodyPr/>
                    <a:lstStyle/>
                    <a:p>
                      <a:pPr marL="0" indent="0" algn="l" fontAlgn="t">
                        <a:lnSpc>
                          <a:spcPts val="1320"/>
                        </a:lnSpc>
                        <a:spcBef>
                          <a:spcPct val="0"/>
                        </a:spcBef>
                        <a:spcAft>
                          <a:spcPct val="0"/>
                        </a:spcAft>
                      </a:pPr>
                      <a:r>
                        <a:rPr sz="1100" b="0" i="0">
                          <a:latin typeface="-apple-system"/>
                          <a:ea typeface="-apple-system"/>
                        </a:rPr>
                        <a:t>Methodology</a:t>
                      </a:r>
                      <a:endParaRPr sz="1100" b="0" i="0">
                        <a:latin typeface="-apple-system"/>
                        <a:ea typeface="-apple-system"/>
                      </a:endParaRPr>
                    </a:p>
                  </a:txBody>
                  <a:tcPr marL="122237" marR="122237" marT="76517" marB="76517" anchor="t" anchorCtr="0">
                    <a:solidFill>
                      <a:srgbClr val="1F3564"/>
                    </a:solidFill>
                  </a:tcPr>
                </a:tc>
              </a:tr>
              <a:tr h="487680">
                <a:tc>
                  <a:txBody>
                    <a:bodyPr/>
                    <a:lstStyle/>
                    <a:p>
                      <a:pPr marL="0" indent="0" algn="l" fontAlgn="t">
                        <a:lnSpc>
                          <a:spcPts val="1320"/>
                        </a:lnSpc>
                        <a:spcBef>
                          <a:spcPct val="0"/>
                        </a:spcBef>
                        <a:spcAft>
                          <a:spcPct val="0"/>
                        </a:spcAft>
                      </a:pPr>
                      <a:r>
                        <a:rPr sz="1100" b="0" i="0">
                          <a:latin typeface="-apple-system"/>
                          <a:ea typeface="-apple-system"/>
                        </a:rPr>
                        <a:t>(i) </a:t>
                      </a:r>
                      <a:r>
                        <a:rPr lang="en-US" sz="1100" b="0" i="0">
                          <a:latin typeface="-apple-system"/>
                          <a:ea typeface="-apple-system"/>
                        </a:rPr>
                        <a:t>Examine</a:t>
                      </a:r>
                      <a:r>
                        <a:rPr sz="1100" b="0" i="0">
                          <a:latin typeface="-apple-system"/>
                          <a:ea typeface="-apple-system"/>
                        </a:rPr>
                        <a:t> limitations of metaheuristics</a:t>
                      </a:r>
                      <a:endParaRPr sz="1100" b="0" i="0">
                        <a:latin typeface="-apple-system"/>
                        <a:ea typeface="-apple-system"/>
                      </a:endParaRPr>
                    </a:p>
                  </a:txBody>
                  <a:tcPr marL="122237" marR="122237" marT="76517" marB="76517" anchor="t" anchorCtr="0"/>
                </a:tc>
                <a:tc>
                  <a:txBody>
                    <a:bodyPr/>
                    <a:lstStyle/>
                    <a:p>
                      <a:pPr marL="0" indent="0" algn="l" fontAlgn="t">
                        <a:lnSpc>
                          <a:spcPts val="1320"/>
                        </a:lnSpc>
                        <a:spcBef>
                          <a:spcPct val="0"/>
                        </a:spcBef>
                        <a:spcAft>
                          <a:spcPct val="0"/>
                        </a:spcAft>
                      </a:pPr>
                      <a:r>
                        <a:rPr sz="1100" b="0" i="0">
                          <a:latin typeface="-apple-system"/>
                          <a:ea typeface="-apple-system"/>
                        </a:rPr>
                        <a:t>S</a:t>
                      </a:r>
                      <a:r>
                        <a:rPr lang="en-US" sz="1100" b="0" i="0">
                          <a:latin typeface="-apple-system"/>
                          <a:ea typeface="-apple-system"/>
                        </a:rPr>
                        <a:t>tructured</a:t>
                      </a:r>
                      <a:r>
                        <a:rPr sz="1100" b="0" i="0">
                          <a:latin typeface="-apple-system"/>
                          <a:ea typeface="-apple-system"/>
                        </a:rPr>
                        <a:t> literature review (2020–2026): GA, SA, hyper-heuristics, MIP &amp; ARO approaches</a:t>
                      </a:r>
                      <a:endParaRPr sz="1100" b="0" i="0">
                        <a:latin typeface="-apple-system"/>
                        <a:ea typeface="-apple-system"/>
                      </a:endParaRPr>
                    </a:p>
                  </a:txBody>
                  <a:tcPr marL="122237" marR="122237" marT="76517" marB="76517" anchor="t" anchorCtr="0"/>
                </a:tc>
              </a:tr>
              <a:tr h="822960">
                <a:tc>
                  <a:txBody>
                    <a:bodyPr/>
                    <a:lstStyle/>
                    <a:p>
                      <a:pPr marL="0" indent="0" algn="l" fontAlgn="t">
                        <a:lnSpc>
                          <a:spcPts val="1320"/>
                        </a:lnSpc>
                        <a:spcBef>
                          <a:spcPct val="0"/>
                        </a:spcBef>
                        <a:spcAft>
                          <a:spcPct val="0"/>
                        </a:spcAft>
                      </a:pPr>
                      <a:r>
                        <a:rPr sz="1100" b="0" i="0">
                          <a:latin typeface="-apple-system"/>
                          <a:ea typeface="-apple-system"/>
                        </a:rPr>
                        <a:t>(ii) </a:t>
                      </a:r>
                      <a:r>
                        <a:rPr lang="en-US" sz="1100" b="0" i="0">
                          <a:latin typeface="-apple-system"/>
                          <a:ea typeface="-apple-system"/>
                        </a:rPr>
                        <a:t>Refinement and Implementation of Enhanced ARO</a:t>
                      </a:r>
                      <a:endParaRPr lang="en-US" sz="1100" b="0" i="0">
                        <a:latin typeface="-apple-system"/>
                        <a:ea typeface="-apple-system"/>
                      </a:endParaRPr>
                    </a:p>
                  </a:txBody>
                  <a:tcPr marL="122237" marR="122237" marT="76517" marB="76517" anchor="t" anchorCtr="0">
                    <a:solidFill>
                      <a:srgbClr val="E8F0FE"/>
                    </a:solidFill>
                  </a:tcPr>
                </a:tc>
                <a:tc>
                  <a:txBody>
                    <a:bodyPr/>
                    <a:lstStyle/>
                    <a:p>
                      <a:pPr marL="0" indent="0" algn="l" fontAlgn="t">
                        <a:lnSpc>
                          <a:spcPts val="1320"/>
                        </a:lnSpc>
                        <a:spcBef>
                          <a:spcPct val="0"/>
                        </a:spcBef>
                        <a:spcAft>
                          <a:spcPct val="0"/>
                        </a:spcAft>
                      </a:pPr>
                      <a:r>
                        <a:rPr sz="1100" b="0" i="0">
                          <a:latin typeface="-apple-system"/>
                          <a:ea typeface="-apple-system"/>
                        </a:rPr>
                        <a:t>Five domain-specific operators (Kempe-chain perturbation, slot-swap local search, greedy repair, move event, swap event); adaptive p_forage control; population scaling for large instances (≥250 events: pop=2)</a:t>
                      </a:r>
                      <a:endParaRPr sz="1100" b="0" i="0">
                        <a:latin typeface="-apple-system"/>
                        <a:ea typeface="-apple-system"/>
                      </a:endParaRPr>
                    </a:p>
                  </a:txBody>
                  <a:tcPr marL="122237" marR="122237" marT="76517" marB="76517" anchor="t" anchorCtr="0">
                    <a:solidFill>
                      <a:srgbClr val="E8F0FE"/>
                    </a:solidFill>
                  </a:tcPr>
                </a:tc>
              </a:tr>
              <a:tr h="655320">
                <a:tc>
                  <a:txBody>
                    <a:bodyPr/>
                    <a:lstStyle/>
                    <a:p>
                      <a:pPr marL="0" indent="0" algn="l" fontAlgn="t">
                        <a:lnSpc>
                          <a:spcPts val="1320"/>
                        </a:lnSpc>
                        <a:spcBef>
                          <a:spcPct val="0"/>
                        </a:spcBef>
                        <a:spcAft>
                          <a:spcPct val="0"/>
                        </a:spcAft>
                      </a:pPr>
                      <a:r>
                        <a:rPr sz="1100" b="0" i="0">
                          <a:latin typeface="-apple-system"/>
                          <a:ea typeface="-apple-system"/>
                        </a:rPr>
                        <a:t>(iii) </a:t>
                      </a:r>
                      <a:r>
                        <a:rPr sz="1100">
                          <a:latin typeface="-apple-system"/>
                          <a:ea typeface="-apple-system"/>
                          <a:sym typeface="+mn-ea"/>
                        </a:rPr>
                        <a:t> Evaluate </a:t>
                      </a:r>
                      <a:r>
                        <a:rPr lang="en-US" sz="1100">
                          <a:latin typeface="-apple-system"/>
                          <a:ea typeface="-apple-system"/>
                          <a:sym typeface="+mn-ea"/>
                        </a:rPr>
                        <a:t>usability of enhanced ARO</a:t>
                      </a:r>
                      <a:endParaRPr lang="en-US" sz="1100" b="0" i="0">
                        <a:latin typeface="-apple-system"/>
                        <a:ea typeface="-apple-system"/>
                        <a:sym typeface="+mn-ea"/>
                      </a:endParaRPr>
                    </a:p>
                  </a:txBody>
                  <a:tcPr marL="122237" marR="122237" marT="76517" marB="76517" anchor="t" anchorCtr="0"/>
                </a:tc>
                <a:tc>
                  <a:txBody>
                    <a:bodyPr/>
                    <a:lstStyle/>
                    <a:p>
                      <a:pPr marL="0" indent="0" algn="l" fontAlgn="t">
                        <a:lnSpc>
                          <a:spcPts val="1320"/>
                        </a:lnSpc>
                        <a:spcBef>
                          <a:spcPct val="0"/>
                        </a:spcBef>
                        <a:spcAft>
                          <a:spcPct val="0"/>
                        </a:spcAft>
                      </a:pPr>
                      <a:r>
                        <a:rPr sz="1100">
                          <a:latin typeface="-apple-system"/>
                          <a:ea typeface="-apple-system"/>
                          <a:sym typeface="+mn-ea"/>
                        </a:rPr>
                        <a:t>Feasibility rate analysis; per-instance performance tracking; Mann-Whitney U pairwise tests with Bonferroni correction + Cliff's delta effect size</a:t>
                      </a:r>
                      <a:endParaRPr sz="1100" b="0" i="0">
                        <a:latin typeface="-apple-system"/>
                        <a:ea typeface="-apple-system"/>
                      </a:endParaRPr>
                    </a:p>
                  </a:txBody>
                  <a:tcPr marL="122237" marR="122237" marT="76517" marB="76517" anchor="t" anchorCtr="0"/>
                </a:tc>
              </a:tr>
              <a:tr h="655320">
                <a:tc>
                  <a:txBody>
                    <a:bodyPr/>
                    <a:lstStyle/>
                    <a:p>
                      <a:pPr marL="0" indent="0" algn="l" fontAlgn="t">
                        <a:lnSpc>
                          <a:spcPts val="1320"/>
                        </a:lnSpc>
                        <a:spcBef>
                          <a:spcPct val="0"/>
                        </a:spcBef>
                        <a:spcAft>
                          <a:spcPct val="0"/>
                        </a:spcAft>
                      </a:pPr>
                      <a:r>
                        <a:rPr sz="1100" b="0" i="0">
                          <a:latin typeface="-apple-system"/>
                          <a:ea typeface="-apple-system"/>
                        </a:rPr>
                        <a:t>(iv)</a:t>
                      </a:r>
                      <a:r>
                        <a:rPr lang="en-US" sz="1100" b="0" i="0">
                          <a:latin typeface="-apple-system"/>
                          <a:ea typeface="-apple-system"/>
                        </a:rPr>
                        <a:t> </a:t>
                      </a:r>
                      <a:r>
                        <a:rPr sz="1100">
                          <a:latin typeface="-apple-system"/>
                          <a:ea typeface="-apple-system"/>
                          <a:sym typeface="+mn-ea"/>
                        </a:rPr>
                        <a:t>Benchmark </a:t>
                      </a:r>
                      <a:r>
                        <a:rPr lang="en-US" sz="1100">
                          <a:latin typeface="-apple-system"/>
                          <a:ea typeface="-apple-system"/>
                          <a:sym typeface="+mn-ea"/>
                        </a:rPr>
                        <a:t>performance of </a:t>
                      </a:r>
                      <a:r>
                        <a:rPr sz="1100">
                          <a:latin typeface="-apple-system"/>
                          <a:ea typeface="-apple-system"/>
                          <a:sym typeface="+mn-ea"/>
                        </a:rPr>
                        <a:t>Enhanced ARO</a:t>
                      </a:r>
                      <a:endParaRPr lang="en-US" sz="1100" b="0" i="0">
                        <a:latin typeface="-apple-system"/>
                        <a:ea typeface="-apple-system"/>
                      </a:endParaRPr>
                    </a:p>
                  </a:txBody>
                  <a:tcPr marL="122237" marR="122237" marT="76517" marB="76517" anchor="t" anchorCtr="0">
                    <a:solidFill>
                      <a:srgbClr val="E8F0FE"/>
                    </a:solidFill>
                  </a:tcPr>
                </a:tc>
                <a:tc>
                  <a:txBody>
                    <a:bodyPr/>
                    <a:lstStyle/>
                    <a:p>
                      <a:pPr marL="0" indent="0" algn="l" fontAlgn="t">
                        <a:lnSpc>
                          <a:spcPts val="1320"/>
                        </a:lnSpc>
                        <a:spcBef>
                          <a:spcPct val="0"/>
                        </a:spcBef>
                        <a:spcAft>
                          <a:spcPct val="0"/>
                        </a:spcAft>
                      </a:pPr>
                      <a:r>
                        <a:rPr sz="1100">
                          <a:latin typeface="-apple-system"/>
                          <a:ea typeface="-apple-system"/>
                          <a:sym typeface="+mn-ea"/>
                        </a:rPr>
                        <a:t>24 ITC-2007 Track 2 instances; 1,800 total runs (15 runs × 5 algorithms × 24 instances); adaptive budgets: Early 5,000, Late 10,000, Hidden 15,000 evaluations</a:t>
                      </a:r>
                      <a:endParaRPr sz="1100" b="0" i="0">
                        <a:latin typeface="-apple-system"/>
                        <a:ea typeface="-apple-system"/>
                      </a:endParaRPr>
                    </a:p>
                  </a:txBody>
                  <a:tcPr marL="122237" marR="122237" marT="76517" marB="76517" anchor="t" anchorCtr="0">
                    <a:solidFill>
                      <a:srgbClr val="E8F0FE"/>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Algorithm Performance &amp; Statistical Validation</a:t>
            </a:r>
          </a:p>
        </p:txBody>
      </p:sp>
      <p:sp>
        <p:nvSpPr>
          <p:cNvPr id="3" name="Content Placeholder 2"/>
          <p:cNvSpPr>
            <a:spLocks noGrp="1"/>
          </p:cNvSpPr>
          <p:nvPr>
            <p:ph idx="1"/>
          </p:nvPr>
        </p:nvSpPr>
        <p:spPr>
          <a:xfrm>
            <a:off x="107315" y="1418590"/>
            <a:ext cx="8928735" cy="2695575"/>
          </a:xfrm>
        </p:spPr>
        <p:txBody>
          <a:bodyPr>
            <a:normAutofit lnSpcReduction="10000"/>
          </a:bodyPr>
          <a:lstStyle/>
          <a:p/>
        </p:txBody>
      </p:sp>
      <p:sp>
        <p:nvSpPr>
          <p:cNvPr id="4" name="Slide Number Placeholder 3"/>
          <p:cNvSpPr>
            <a:spLocks noGrp="1"/>
          </p:cNvSpPr>
          <p:nvPr>
            <p:ph type="sldNum" sz="quarter" idx="12"/>
          </p:nvPr>
        </p:nvSpPr>
        <p:spPr>
          <a:xfrm>
            <a:off x="3505200" y="4803581"/>
            <a:ext cx="2133600" cy="273844"/>
          </a:xfrm>
        </p:spPr>
        <p:txBody>
          <a:bodyPr/>
          <a:lstStyle/>
          <a:p>
            <a:r>
              <a:rPr lang="en-US"/>
              <a:t>9</a:t>
            </a:r>
            <a:endParaRPr lang="en-US"/>
          </a:p>
        </p:txBody>
      </p:sp>
      <p:graphicFrame>
        <p:nvGraphicFramePr>
          <p:cNvPr id="5" name="Table 4"/>
          <p:cNvGraphicFramePr>
            <a:graphicFrameLocks noGrp="1"/>
          </p:cNvGraphicFramePr>
          <p:nvPr>
            <p:custDataLst>
              <p:tags r:id="rId1"/>
            </p:custDataLst>
          </p:nvPr>
        </p:nvGraphicFramePr>
        <p:xfrm>
          <a:off x="179705" y="1275715"/>
          <a:ext cx="8686800" cy="2758440"/>
        </p:xfrm>
        <a:graphic>
          <a:graphicData uri="http://schemas.openxmlformats.org/drawingml/2006/table">
            <a:tbl>
              <a:tblPr firstRow="1" bandRow="1">
                <a:tableStyleId>{5C22544A-7EE6-4342-B048-85BDC9FD1C3A}</a:tableStyleId>
              </a:tblPr>
              <a:tblGrid>
                <a:gridCol w="1447800"/>
                <a:gridCol w="1447800"/>
                <a:gridCol w="1447800"/>
                <a:gridCol w="1447800"/>
                <a:gridCol w="1447800"/>
                <a:gridCol w="1447800"/>
              </a:tblGrid>
              <a:tr h="459740">
                <a:tc>
                  <a:txBody>
                    <a:bodyPr/>
                    <a:lstStyle/>
                    <a:p>
                      <a:r>
                        <a:rPr sz="1000" b="1">
                          <a:solidFill>
                            <a:srgbClr val="FFFFFF"/>
                          </a:solidFill>
                        </a:rPr>
                        <a:t>Algorithm</a:t>
                      </a:r>
                      <a:endParaRPr sz="1000" b="1">
                        <a:solidFill>
                          <a:srgbClr val="FFFFFF"/>
                        </a:solidFill>
                      </a:endParaRPr>
                    </a:p>
                  </a:txBody>
                  <a:tcPr>
                    <a:solidFill>
                      <a:srgbClr val="1F3564"/>
                    </a:solidFill>
                  </a:tcPr>
                </a:tc>
                <a:tc>
                  <a:txBody>
                    <a:bodyPr/>
                    <a:lstStyle/>
                    <a:p>
                      <a:r>
                        <a:rPr sz="1000" b="1">
                          <a:solidFill>
                            <a:srgbClr val="FFFFFF"/>
                          </a:solidFill>
                        </a:rPr>
                        <a:t>Mean Fitness</a:t>
                      </a:r>
                      <a:endParaRPr sz="1000" b="1">
                        <a:solidFill>
                          <a:srgbClr val="FFFFFF"/>
                        </a:solidFill>
                      </a:endParaRPr>
                    </a:p>
                  </a:txBody>
                  <a:tcPr>
                    <a:solidFill>
                      <a:srgbClr val="1F3564"/>
                    </a:solidFill>
                  </a:tcPr>
                </a:tc>
                <a:tc>
                  <a:txBody>
                    <a:bodyPr/>
                    <a:lstStyle/>
                    <a:p>
                      <a:r>
                        <a:rPr sz="1000" b="1">
                          <a:solidFill>
                            <a:srgbClr val="FFFFFF"/>
                          </a:solidFill>
                        </a:rPr>
                        <a:t>Std Dev</a:t>
                      </a:r>
                      <a:endParaRPr sz="1000" b="1">
                        <a:solidFill>
                          <a:srgbClr val="FFFFFF"/>
                        </a:solidFill>
                      </a:endParaRPr>
                    </a:p>
                  </a:txBody>
                  <a:tcPr>
                    <a:solidFill>
                      <a:srgbClr val="1F3564"/>
                    </a:solidFill>
                  </a:tcPr>
                </a:tc>
                <a:tc>
                  <a:txBody>
                    <a:bodyPr/>
                    <a:lstStyle/>
                    <a:p>
                      <a:r>
                        <a:rPr sz="1000" b="1">
                          <a:solidFill>
                            <a:srgbClr val="FFFFFF"/>
                          </a:solidFill>
                        </a:rPr>
                        <a:t>Avg Hard Violations</a:t>
                      </a:r>
                      <a:endParaRPr sz="1000" b="1">
                        <a:solidFill>
                          <a:srgbClr val="FFFFFF"/>
                        </a:solidFill>
                      </a:endParaRPr>
                    </a:p>
                  </a:txBody>
                  <a:tcPr>
                    <a:solidFill>
                      <a:srgbClr val="1F3564"/>
                    </a:solidFill>
                  </a:tcPr>
                </a:tc>
                <a:tc>
                  <a:txBody>
                    <a:bodyPr/>
                    <a:lstStyle/>
                    <a:p>
                      <a:r>
                        <a:rPr sz="1000" b="1">
                          <a:solidFill>
                            <a:srgbClr val="FFFFFF"/>
                          </a:solidFill>
                        </a:rPr>
                        <a:t>Cliff's δ vs Enhanced ARO</a:t>
                      </a:r>
                      <a:endParaRPr sz="1000" b="1">
                        <a:solidFill>
                          <a:srgbClr val="FFFFFF"/>
                        </a:solidFill>
                      </a:endParaRPr>
                    </a:p>
                  </a:txBody>
                  <a:tcPr>
                    <a:solidFill>
                      <a:srgbClr val="1F3564"/>
                    </a:solidFill>
                  </a:tcPr>
                </a:tc>
                <a:tc>
                  <a:txBody>
                    <a:bodyPr/>
                    <a:lstStyle/>
                    <a:p>
                      <a:r>
                        <a:rPr sz="1000" b="1">
                          <a:solidFill>
                            <a:srgbClr val="FFFFFF"/>
                          </a:solidFill>
                        </a:rPr>
                        <a:t>Verdict</a:t>
                      </a:r>
                      <a:endParaRPr sz="1000" b="1">
                        <a:solidFill>
                          <a:srgbClr val="FFFFFF"/>
                        </a:solidFill>
                      </a:endParaRPr>
                    </a:p>
                  </a:txBody>
                  <a:tcPr>
                    <a:solidFill>
                      <a:srgbClr val="1F3564"/>
                    </a:solidFill>
                  </a:tcPr>
                </a:tc>
              </a:tr>
              <a:tr h="459740">
                <a:tc>
                  <a:txBody>
                    <a:bodyPr/>
                    <a:lstStyle/>
                    <a:p>
                      <a:r>
                        <a:rPr sz="1000">
                          <a:solidFill>
                            <a:srgbClr val="000000"/>
                          </a:solidFill>
                        </a:rPr>
                        <a:t>Standard ARO</a:t>
                      </a:r>
                      <a:endParaRPr sz="1000">
                        <a:solidFill>
                          <a:srgbClr val="000000"/>
                        </a:solidFill>
                      </a:endParaRPr>
                    </a:p>
                  </a:txBody>
                  <a:tcPr/>
                </a:tc>
                <a:tc>
                  <a:txBody>
                    <a:bodyPr/>
                    <a:lstStyle/>
                    <a:p>
                      <a:r>
                        <a:rPr sz="1000">
                          <a:solidFill>
                            <a:srgbClr val="000000"/>
                          </a:solidFill>
                        </a:rPr>
                        <a:t>261,826,493</a:t>
                      </a:r>
                      <a:endParaRPr sz="1000">
                        <a:solidFill>
                          <a:srgbClr val="000000"/>
                        </a:solidFill>
                      </a:endParaRPr>
                    </a:p>
                  </a:txBody>
                  <a:tcPr/>
                </a:tc>
                <a:tc>
                  <a:txBody>
                    <a:bodyPr/>
                    <a:lstStyle/>
                    <a:p>
                      <a:r>
                        <a:rPr sz="1000">
                          <a:solidFill>
                            <a:srgbClr val="000000"/>
                          </a:solidFill>
                        </a:rPr>
                        <a:t>79,902,833</a:t>
                      </a:r>
                      <a:endParaRPr sz="1000">
                        <a:solidFill>
                          <a:srgbClr val="000000"/>
                        </a:solidFill>
                      </a:endParaRPr>
                    </a:p>
                  </a:txBody>
                  <a:tcPr/>
                </a:tc>
                <a:tc>
                  <a:txBody>
                    <a:bodyPr/>
                    <a:lstStyle/>
                    <a:p>
                      <a:r>
                        <a:rPr sz="1000">
                          <a:solidFill>
                            <a:srgbClr val="000000"/>
                          </a:solidFill>
                        </a:rPr>
                        <a:t>261.8</a:t>
                      </a:r>
                      <a:endParaRPr sz="1000">
                        <a:solidFill>
                          <a:srgbClr val="000000"/>
                        </a:solidFill>
                      </a:endParaRPr>
                    </a:p>
                  </a:txBody>
                  <a:tcPr/>
                </a:tc>
                <a:tc>
                  <a:txBody>
                    <a:bodyPr/>
                    <a:lstStyle/>
                    <a:p>
                      <a:r>
                        <a:rPr sz="1000">
                          <a:solidFill>
                            <a:srgbClr val="000000"/>
                          </a:solidFill>
                        </a:rPr>
                        <a:t>-0.984 (Large)</a:t>
                      </a:r>
                      <a:endParaRPr sz="1000">
                        <a:solidFill>
                          <a:srgbClr val="000000"/>
                        </a:solidFill>
                      </a:endParaRPr>
                    </a:p>
                  </a:txBody>
                  <a:tcPr/>
                </a:tc>
                <a:tc>
                  <a:txBody>
                    <a:bodyPr/>
                    <a:lstStyle/>
                    <a:p>
                      <a:r>
                        <a:rPr sz="1000">
                          <a:solidFill>
                            <a:srgbClr val="000000"/>
                          </a:solidFill>
                        </a:rPr>
                        <a:t>Enhanced ARO wins</a:t>
                      </a:r>
                      <a:endParaRPr sz="1000">
                        <a:solidFill>
                          <a:srgbClr val="000000"/>
                        </a:solidFill>
                      </a:endParaRPr>
                    </a:p>
                  </a:txBody>
                  <a:tcPr/>
                </a:tc>
              </a:tr>
              <a:tr h="459740">
                <a:tc>
                  <a:txBody>
                    <a:bodyPr/>
                    <a:lstStyle/>
                    <a:p>
                      <a:r>
                        <a:rPr sz="1000">
                          <a:solidFill>
                            <a:srgbClr val="000000"/>
                          </a:solidFill>
                        </a:rPr>
                        <a:t>PSO</a:t>
                      </a:r>
                      <a:endParaRPr sz="1000">
                        <a:solidFill>
                          <a:srgbClr val="000000"/>
                        </a:solidFill>
                      </a:endParaRPr>
                    </a:p>
                  </a:txBody>
                  <a:tcPr>
                    <a:solidFill>
                      <a:srgbClr val="E8F0FE"/>
                    </a:solidFill>
                  </a:tcPr>
                </a:tc>
                <a:tc>
                  <a:txBody>
                    <a:bodyPr/>
                    <a:lstStyle/>
                    <a:p>
                      <a:r>
                        <a:rPr sz="1000">
                          <a:solidFill>
                            <a:srgbClr val="000000"/>
                          </a:solidFill>
                        </a:rPr>
                        <a:t>224,168,197</a:t>
                      </a:r>
                      <a:endParaRPr sz="1000">
                        <a:solidFill>
                          <a:srgbClr val="000000"/>
                        </a:solidFill>
                      </a:endParaRPr>
                    </a:p>
                  </a:txBody>
                  <a:tcPr>
                    <a:solidFill>
                      <a:srgbClr val="E8F0FE"/>
                    </a:solidFill>
                  </a:tcPr>
                </a:tc>
                <a:tc>
                  <a:txBody>
                    <a:bodyPr/>
                    <a:lstStyle/>
                    <a:p>
                      <a:r>
                        <a:rPr sz="1000">
                          <a:solidFill>
                            <a:srgbClr val="000000"/>
                          </a:solidFill>
                        </a:rPr>
                        <a:t>90,195,733</a:t>
                      </a:r>
                      <a:endParaRPr sz="1000">
                        <a:solidFill>
                          <a:srgbClr val="000000"/>
                        </a:solidFill>
                      </a:endParaRPr>
                    </a:p>
                  </a:txBody>
                  <a:tcPr>
                    <a:solidFill>
                      <a:srgbClr val="E8F0FE"/>
                    </a:solidFill>
                  </a:tcPr>
                </a:tc>
                <a:tc>
                  <a:txBody>
                    <a:bodyPr/>
                    <a:lstStyle/>
                    <a:p>
                      <a:r>
                        <a:rPr sz="1000">
                          <a:solidFill>
                            <a:srgbClr val="000000"/>
                          </a:solidFill>
                        </a:rPr>
                        <a:t>224.2</a:t>
                      </a:r>
                      <a:endParaRPr sz="1000">
                        <a:solidFill>
                          <a:srgbClr val="000000"/>
                        </a:solidFill>
                      </a:endParaRPr>
                    </a:p>
                  </a:txBody>
                  <a:tcPr>
                    <a:solidFill>
                      <a:srgbClr val="E8F0FE"/>
                    </a:solidFill>
                  </a:tcPr>
                </a:tc>
                <a:tc>
                  <a:txBody>
                    <a:bodyPr/>
                    <a:lstStyle/>
                    <a:p>
                      <a:r>
                        <a:rPr sz="1000">
                          <a:solidFill>
                            <a:srgbClr val="000000"/>
                          </a:solidFill>
                        </a:rPr>
                        <a:t>-0.538 (Large)</a:t>
                      </a:r>
                      <a:endParaRPr sz="1000">
                        <a:solidFill>
                          <a:srgbClr val="000000"/>
                        </a:solidFill>
                      </a:endParaRPr>
                    </a:p>
                  </a:txBody>
                  <a:tcPr>
                    <a:solidFill>
                      <a:srgbClr val="E8F0FE"/>
                    </a:solidFill>
                  </a:tcPr>
                </a:tc>
                <a:tc>
                  <a:txBody>
                    <a:bodyPr/>
                    <a:lstStyle/>
                    <a:p>
                      <a:r>
                        <a:rPr sz="1000">
                          <a:solidFill>
                            <a:srgbClr val="000000"/>
                          </a:solidFill>
                        </a:rPr>
                        <a:t>Enhanced ARO wins</a:t>
                      </a:r>
                      <a:endParaRPr sz="1000">
                        <a:solidFill>
                          <a:srgbClr val="000000"/>
                        </a:solidFill>
                      </a:endParaRPr>
                    </a:p>
                  </a:txBody>
                  <a:tcPr>
                    <a:solidFill>
                      <a:srgbClr val="E8F0FE"/>
                    </a:solidFill>
                  </a:tcPr>
                </a:tc>
              </a:tr>
              <a:tr h="459740">
                <a:tc>
                  <a:txBody>
                    <a:bodyPr/>
                    <a:lstStyle/>
                    <a:p>
                      <a:r>
                        <a:rPr sz="1000">
                          <a:solidFill>
                            <a:srgbClr val="000000"/>
                          </a:solidFill>
                        </a:rPr>
                        <a:t>GA</a:t>
                      </a:r>
                      <a:endParaRPr sz="1000">
                        <a:solidFill>
                          <a:srgbClr val="000000"/>
                        </a:solidFill>
                      </a:endParaRPr>
                    </a:p>
                  </a:txBody>
                  <a:tcPr/>
                </a:tc>
                <a:tc>
                  <a:txBody>
                    <a:bodyPr/>
                    <a:lstStyle/>
                    <a:p>
                      <a:r>
                        <a:rPr sz="1000">
                          <a:solidFill>
                            <a:srgbClr val="000000"/>
                          </a:solidFill>
                        </a:rPr>
                        <a:t>180,618,043</a:t>
                      </a:r>
                      <a:endParaRPr sz="1000">
                        <a:solidFill>
                          <a:srgbClr val="000000"/>
                        </a:solidFill>
                      </a:endParaRPr>
                    </a:p>
                  </a:txBody>
                  <a:tcPr/>
                </a:tc>
                <a:tc>
                  <a:txBody>
                    <a:bodyPr/>
                    <a:lstStyle/>
                    <a:p>
                      <a:r>
                        <a:rPr sz="1000">
                          <a:solidFill>
                            <a:srgbClr val="000000"/>
                          </a:solidFill>
                        </a:rPr>
                        <a:t>91,882,741</a:t>
                      </a:r>
                      <a:endParaRPr sz="1000">
                        <a:solidFill>
                          <a:srgbClr val="000000"/>
                        </a:solidFill>
                      </a:endParaRPr>
                    </a:p>
                  </a:txBody>
                  <a:tcPr/>
                </a:tc>
                <a:tc>
                  <a:txBody>
                    <a:bodyPr/>
                    <a:lstStyle/>
                    <a:p>
                      <a:r>
                        <a:rPr sz="1000">
                          <a:solidFill>
                            <a:srgbClr val="000000"/>
                          </a:solidFill>
                        </a:rPr>
                        <a:t>180.6</a:t>
                      </a:r>
                      <a:endParaRPr sz="1000">
                        <a:solidFill>
                          <a:srgbClr val="000000"/>
                        </a:solidFill>
                      </a:endParaRPr>
                    </a:p>
                  </a:txBody>
                  <a:tcPr/>
                </a:tc>
                <a:tc>
                  <a:txBody>
                    <a:bodyPr/>
                    <a:lstStyle/>
                    <a:p>
                      <a:r>
                        <a:rPr sz="1000">
                          <a:solidFill>
                            <a:srgbClr val="000000"/>
                          </a:solidFill>
                        </a:rPr>
                        <a:t>-0.432 (Medium)</a:t>
                      </a:r>
                      <a:endParaRPr sz="1000">
                        <a:solidFill>
                          <a:srgbClr val="000000"/>
                        </a:solidFill>
                      </a:endParaRPr>
                    </a:p>
                  </a:txBody>
                  <a:tcPr/>
                </a:tc>
                <a:tc>
                  <a:txBody>
                    <a:bodyPr/>
                    <a:lstStyle/>
                    <a:p>
                      <a:r>
                        <a:rPr sz="1000">
                          <a:solidFill>
                            <a:srgbClr val="000000"/>
                          </a:solidFill>
                        </a:rPr>
                        <a:t>Enhanced ARO wins</a:t>
                      </a:r>
                      <a:endParaRPr sz="1000">
                        <a:solidFill>
                          <a:srgbClr val="000000"/>
                        </a:solidFill>
                      </a:endParaRPr>
                    </a:p>
                  </a:txBody>
                  <a:tcPr/>
                </a:tc>
              </a:tr>
              <a:tr h="459740">
                <a:tc>
                  <a:txBody>
                    <a:bodyPr/>
                    <a:lstStyle/>
                    <a:p>
                      <a:r>
                        <a:rPr lang="en-US" sz="1000">
                          <a:solidFill>
                            <a:srgbClr val="000000"/>
                          </a:solidFill>
                        </a:rPr>
                        <a:t>SA</a:t>
                      </a:r>
                      <a:endParaRPr lang="en-US" sz="1000">
                        <a:solidFill>
                          <a:srgbClr val="000000"/>
                        </a:solidFill>
                      </a:endParaRPr>
                    </a:p>
                  </a:txBody>
                  <a:tcPr>
                    <a:solidFill>
                      <a:srgbClr val="E8F0FE"/>
                    </a:solidFill>
                  </a:tcPr>
                </a:tc>
                <a:tc>
                  <a:txBody>
                    <a:bodyPr/>
                    <a:lstStyle/>
                    <a:p>
                      <a:r>
                        <a:rPr lang="en-US" sz="1000">
                          <a:solidFill>
                            <a:srgbClr val="000000"/>
                          </a:solidFill>
                        </a:rPr>
                        <a:t>46,708,886</a:t>
                      </a:r>
                      <a:endParaRPr lang="en-US" sz="1000">
                        <a:solidFill>
                          <a:srgbClr val="000000"/>
                        </a:solidFill>
                      </a:endParaRPr>
                    </a:p>
                  </a:txBody>
                  <a:tcPr>
                    <a:solidFill>
                      <a:srgbClr val="E8F0FE"/>
                    </a:solidFill>
                  </a:tcPr>
                </a:tc>
                <a:tc>
                  <a:txBody>
                    <a:bodyPr/>
                    <a:lstStyle/>
                    <a:p>
                      <a:r>
                        <a:rPr lang="en-US" sz="1000">
                          <a:solidFill>
                            <a:srgbClr val="000000"/>
                          </a:solidFill>
                        </a:rPr>
                        <a:t>25,81,224</a:t>
                      </a:r>
                      <a:endParaRPr lang="en-US" sz="1000">
                        <a:solidFill>
                          <a:srgbClr val="000000"/>
                        </a:solidFill>
                      </a:endParaRPr>
                    </a:p>
                  </a:txBody>
                  <a:tcPr>
                    <a:solidFill>
                      <a:srgbClr val="E8F0FE"/>
                    </a:solidFill>
                  </a:tcPr>
                </a:tc>
                <a:tc>
                  <a:txBody>
                    <a:bodyPr/>
                    <a:lstStyle/>
                    <a:p>
                      <a:r>
                        <a:rPr lang="en-US" sz="1000">
                          <a:solidFill>
                            <a:srgbClr val="000000"/>
                          </a:solidFill>
                        </a:rPr>
                        <a:t>46.7</a:t>
                      </a:r>
                      <a:endParaRPr lang="en-US" sz="1000">
                        <a:solidFill>
                          <a:srgbClr val="000000"/>
                        </a:solidFill>
                      </a:endParaRPr>
                    </a:p>
                  </a:txBody>
                  <a:tcPr>
                    <a:solidFill>
                      <a:srgbClr val="E8F0FE"/>
                    </a:solidFill>
                  </a:tcPr>
                </a:tc>
                <a:tc>
                  <a:txBody>
                    <a:bodyPr/>
                    <a:lstStyle/>
                    <a:p>
                      <a:r>
                        <a:rPr lang="en-US" sz="1000">
                          <a:solidFill>
                            <a:srgbClr val="000000"/>
                          </a:solidFill>
                        </a:rPr>
                        <a:t>+0.583(Large)</a:t>
                      </a:r>
                      <a:endParaRPr lang="en-US" sz="1000">
                        <a:solidFill>
                          <a:srgbClr val="000000"/>
                        </a:solidFill>
                      </a:endParaRPr>
                    </a:p>
                  </a:txBody>
                  <a:tcPr>
                    <a:solidFill>
                      <a:srgbClr val="E8F0FE"/>
                    </a:solidFill>
                  </a:tcPr>
                </a:tc>
                <a:tc>
                  <a:txBody>
                    <a:bodyPr/>
                    <a:lstStyle/>
                    <a:p>
                      <a:r>
                        <a:rPr lang="en-US" sz="1000">
                          <a:solidFill>
                            <a:srgbClr val="000000"/>
                          </a:solidFill>
                        </a:rPr>
                        <a:t>SA wins</a:t>
                      </a:r>
                      <a:endParaRPr lang="en-US" sz="1000">
                        <a:solidFill>
                          <a:srgbClr val="000000"/>
                        </a:solidFill>
                      </a:endParaRPr>
                    </a:p>
                  </a:txBody>
                  <a:tcPr>
                    <a:solidFill>
                      <a:srgbClr val="E8F0FE"/>
                    </a:solidFill>
                  </a:tcPr>
                </a:tc>
              </a:tr>
              <a:tr h="459740">
                <a:tc>
                  <a:txBody>
                    <a:bodyPr/>
                    <a:lstStyle/>
                    <a:p>
                      <a:r>
                        <a:rPr sz="1000">
                          <a:solidFill>
                            <a:srgbClr val="000000"/>
                          </a:solidFill>
                        </a:rPr>
                        <a:t>Enhanced ARO</a:t>
                      </a:r>
                      <a:endParaRPr sz="1000">
                        <a:solidFill>
                          <a:srgbClr val="000000"/>
                        </a:solidFill>
                      </a:endParaRPr>
                    </a:p>
                  </a:txBody>
                  <a:tcPr/>
                </a:tc>
                <a:tc>
                  <a:txBody>
                    <a:bodyPr/>
                    <a:lstStyle/>
                    <a:p>
                      <a:r>
                        <a:rPr sz="1000">
                          <a:solidFill>
                            <a:srgbClr val="000000"/>
                          </a:solidFill>
                        </a:rPr>
                        <a:t>107,176,140</a:t>
                      </a:r>
                      <a:endParaRPr sz="1000">
                        <a:solidFill>
                          <a:srgbClr val="000000"/>
                        </a:solidFill>
                      </a:endParaRPr>
                    </a:p>
                  </a:txBody>
                  <a:tcPr/>
                </a:tc>
                <a:tc>
                  <a:txBody>
                    <a:bodyPr/>
                    <a:lstStyle/>
                    <a:p>
                      <a:r>
                        <a:rPr sz="1000">
                          <a:solidFill>
                            <a:srgbClr val="000000"/>
                          </a:solidFill>
                        </a:rPr>
                        <a:t>55,310,412</a:t>
                      </a:r>
                      <a:endParaRPr sz="1000">
                        <a:solidFill>
                          <a:srgbClr val="000000"/>
                        </a:solidFill>
                      </a:endParaRPr>
                    </a:p>
                  </a:txBody>
                  <a:tcPr/>
                </a:tc>
                <a:tc>
                  <a:txBody>
                    <a:bodyPr/>
                    <a:lstStyle/>
                    <a:p>
                      <a:r>
                        <a:rPr sz="1000">
                          <a:solidFill>
                            <a:srgbClr val="000000"/>
                          </a:solidFill>
                        </a:rPr>
                        <a:t>107.2</a:t>
                      </a:r>
                      <a:endParaRPr sz="1000">
                        <a:solidFill>
                          <a:srgbClr val="000000"/>
                        </a:solidFill>
                      </a:endParaRPr>
                    </a:p>
                  </a:txBody>
                  <a:tcPr/>
                </a:tc>
                <a:tc>
                  <a:txBody>
                    <a:bodyPr/>
                    <a:lstStyle/>
                    <a:p>
                      <a:r>
                        <a:rPr sz="1000">
                          <a:solidFill>
                            <a:srgbClr val="000000"/>
                          </a:solidFill>
                        </a:rPr>
                        <a:t>—</a:t>
                      </a:r>
                      <a:endParaRPr sz="1000">
                        <a:solidFill>
                          <a:srgbClr val="000000"/>
                        </a:solidFill>
                      </a:endParaRPr>
                    </a:p>
                  </a:txBody>
                  <a:tcPr/>
                </a:tc>
                <a:tc>
                  <a:txBody>
                    <a:bodyPr/>
                    <a:lstStyle/>
                    <a:p>
                      <a:r>
                        <a:rPr sz="1000">
                          <a:solidFill>
                            <a:srgbClr val="000000"/>
                          </a:solidFill>
                        </a:rPr>
                        <a:t>2nd best overall</a:t>
                      </a:r>
                      <a:endParaRPr sz="1000">
                        <a:solidFill>
                          <a:srgbClr val="000000"/>
                        </a:solidFill>
                      </a:endParaRPr>
                    </a:p>
                  </a:txBody>
                  <a:tcPr/>
                </a:tc>
              </a:tr>
            </a:tbl>
          </a:graphicData>
        </a:graphic>
      </p:graphicFrame>
      <p:sp>
        <p:nvSpPr>
          <p:cNvPr id="6" name="TextBox 5"/>
          <p:cNvSpPr txBox="1"/>
          <p:nvPr/>
        </p:nvSpPr>
        <p:spPr>
          <a:xfrm>
            <a:off x="323850" y="4059555"/>
            <a:ext cx="7152005" cy="718185"/>
          </a:xfrm>
          <a:prstGeom prst="rect">
            <a:avLst/>
          </a:prstGeom>
          <a:noFill/>
        </p:spPr>
        <p:txBody>
          <a:bodyPr wrap="square">
            <a:noAutofit/>
          </a:bodyPr>
          <a:lstStyle/>
          <a:p>
            <a:r>
              <a:rPr sz="1000">
                <a:solidFill>
                  <a:srgbClr val="555555"/>
                </a:solidFill>
              </a:rPr>
              <a:t>1,800 runs | 24 ITC-2007 Track 2 instances | Early: 5,000 evals | Late: 10,000 | Hidden: 15,000 evaluations.
All pairwise differences statistically significant (Mann-Whitney U, p &lt; 0.001, Bonferroni-corrected α = 0.005).
SA outperforms under tight budgets due to single-solution update efficiency; Enhanced ARO's gap with SA narrows as evaluation budget increases.</a:t>
            </a:r>
            <a:endParaRPr sz="1000">
              <a:solidFill>
                <a:srgbClr val="555555"/>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Per-Objective Findings</a:t>
            </a:r>
          </a:p>
        </p:txBody>
      </p:sp>
      <p:sp>
        <p:nvSpPr>
          <p:cNvPr id="3" name="Content Placeholder 2"/>
          <p:cNvSpPr>
            <a:spLocks noGrp="1"/>
          </p:cNvSpPr>
          <p:nvPr>
            <p:ph idx="1"/>
          </p:nvPr>
        </p:nvSpPr>
        <p:spPr/>
        <p:txBody>
          <a:bodyPr/>
          <a:lstStyle/>
          <a:p>
            <a:r>
              <a:rPr sz="1300"/>
              <a:t>Obj </a:t>
            </a:r>
            <a:r>
              <a:rPr lang="en-US" sz="1300"/>
              <a:t>(</a:t>
            </a:r>
            <a:r>
              <a:rPr sz="1300"/>
              <a:t>i</a:t>
            </a:r>
            <a:r>
              <a:rPr lang="en-US" sz="1300"/>
              <a:t>)</a:t>
            </a:r>
            <a:r>
              <a:rPr sz="1300"/>
              <a:t>  Limitations Identified: GA/SA/PSO all sensitive to parameters; Standard ARO inapplicable to discrete UCTP without domain adaptation (Wang et al., 2022)</a:t>
            </a:r>
            <a:endParaRPr sz="1300"/>
          </a:p>
          <a:p>
            <a:r>
              <a:rPr sz="1300"/>
              <a:t>Obj </a:t>
            </a:r>
            <a:r>
              <a:rPr lang="en-US" sz="1300"/>
              <a:t>(</a:t>
            </a:r>
            <a:r>
              <a:rPr sz="1300"/>
              <a:t>ii</a:t>
            </a:r>
            <a:r>
              <a:rPr lang="en-US" sz="1300"/>
              <a:t>)</a:t>
            </a:r>
            <a:r>
              <a:rPr sz="1300"/>
              <a:t>  Enhanced ARO Designed</a:t>
            </a:r>
            <a:r>
              <a:rPr lang="en-US" sz="1300"/>
              <a:t> and implemented</a:t>
            </a:r>
            <a:r>
              <a:rPr sz="1300"/>
              <a:t>: 5 domain-specific operators (Kempe chain, slot-swap, greedy repair, move, swap) replace continuous vector math; adaptive p_forage control</a:t>
            </a:r>
            <a:endParaRPr sz="1300"/>
          </a:p>
          <a:p>
            <a:r>
              <a:rPr sz="1300"/>
              <a:t>Obj </a:t>
            </a:r>
            <a:r>
              <a:rPr lang="en-US" sz="1300"/>
              <a:t>(</a:t>
            </a:r>
            <a:r>
              <a:rPr sz="1300"/>
              <a:t>iii</a:t>
            </a:r>
            <a:r>
              <a:rPr lang="en-US" sz="1300"/>
              <a:t>)</a:t>
            </a:r>
            <a:r>
              <a:rPr sz="1300"/>
              <a:t>  </a:t>
            </a:r>
            <a:r>
              <a:rPr sz="1300">
                <a:sym typeface="+mn-ea"/>
              </a:rPr>
              <a:t>Feasibility: Enhanced ARO achieves feasibility breakthroughs where Standard ARO, GA &amp; PSO fail; effective across 24 instances; SA remains best under tight 5k–15k budgets</a:t>
            </a:r>
            <a:endParaRPr sz="1300"/>
          </a:p>
          <a:p>
            <a:r>
              <a:rPr sz="1300"/>
              <a:t>Obj </a:t>
            </a:r>
            <a:r>
              <a:rPr lang="en-US" sz="1300"/>
              <a:t>(</a:t>
            </a:r>
            <a:r>
              <a:rPr sz="1300"/>
              <a:t>iv</a:t>
            </a:r>
            <a:r>
              <a:rPr lang="en-US" sz="1300"/>
              <a:t>)</a:t>
            </a:r>
            <a:r>
              <a:rPr sz="1300"/>
              <a:t>  </a:t>
            </a:r>
            <a:r>
              <a:rPr sz="1300">
                <a:sym typeface="+mn-ea"/>
              </a:rPr>
              <a:t>Benchmarked: Enhanced ARO outperforms Standard ARO (δ = −0.984, Large), GA (δ = −0.432, Medium), and PSO (δ = −0.538, Large) — all significant (p &lt; 0.001)</a:t>
            </a:r>
            <a:endParaRPr sz="1300"/>
          </a:p>
          <a:p>
            <a:endParaRPr sz="13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Significance of Study</a:t>
            </a:r>
            <a:endParaRPr lang="en-GB" dirty="0"/>
          </a:p>
        </p:txBody>
      </p:sp>
      <p:sp>
        <p:nvSpPr>
          <p:cNvPr id="3" name="Content Placeholder 2"/>
          <p:cNvSpPr>
            <a:spLocks noGrp="1"/>
          </p:cNvSpPr>
          <p:nvPr>
            <p:ph idx="1"/>
          </p:nvPr>
        </p:nvSpPr>
        <p:spPr/>
        <p:txBody>
          <a:bodyPr>
            <a:normAutofit fontScale="40000"/>
          </a:bodyPr>
          <a:lstStyle/>
          <a:p>
            <a:pPr marL="342900" indent="-342900" algn="l">
              <a:lnSpc>
                <a:spcPct val="140000"/>
              </a:lnSpc>
              <a:buFont typeface="+mj-lt"/>
              <a:buAutoNum type="romanLcPeriod"/>
            </a:pPr>
            <a:r>
              <a:rPr lang="en-US" b="1"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 Algorithmic Advancement:</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Demonstrates ARO can be successfully adapted for discrete combinatorial optimization</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Domain-specific operators show measurable improvement over generic approaches</a:t>
            </a:r>
            <a:endParaRPr lang="en-US" dirty="0"/>
          </a:p>
          <a:p>
            <a:pPr marL="342900" indent="-342900" algn="l">
              <a:lnSpc>
                <a:spcPct val="140000"/>
              </a:lnSpc>
              <a:spcBef>
                <a:spcPts val="600"/>
              </a:spcBef>
              <a:buFont typeface="+mj-lt"/>
              <a:buAutoNum type="romanLcPeriod" startAt="2"/>
            </a:pPr>
            <a:r>
              <a:rPr lang="en-US" b="1"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 Practical Impact for Universities:</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Equips institutions with evidence-based tools to enhance timetable quality</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No complete system overhaul required</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Enables informed metaheuristic selection decisions</a:t>
            </a:r>
            <a:endParaRPr lang="en-US" dirty="0"/>
          </a:p>
          <a:p>
            <a:pPr marL="342900" indent="-342900" algn="l">
              <a:lnSpc>
                <a:spcPct val="140000"/>
              </a:lnSpc>
              <a:spcBef>
                <a:spcPts val="600"/>
              </a:spcBef>
              <a:buFont typeface="+mj-lt"/>
              <a:buAutoNum type="romanLcPeriod" startAt="3"/>
            </a:pPr>
            <a:r>
              <a:rPr lang="en-US" b="1"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 Research Contribution:</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First rigorous ARO application to UCTP with standardized benchmarking</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Provides reproducible experimental framework for future comparison</a:t>
            </a:r>
            <a:endParaRPr lang="en-US" dirty="0"/>
          </a:p>
          <a:p>
            <a:pPr marL="269875" indent="-269875" algn="l">
              <a:lnSpc>
                <a:spcPct val="140000"/>
              </a:lnSpc>
              <a:spcBef>
                <a:spcPts val="10"/>
              </a:spcBef>
              <a:buSzPct val="100000"/>
              <a:buChar char="•"/>
            </a:pPr>
            <a:r>
              <a:rPr lang="en-US" dirty="0">
                <a:solidFill>
                  <a:srgbClr val="000000"/>
                </a:solidFill>
                <a:latin typeface="Quattrocento Sans" panose="020B0502050000020003" pitchFamily="34" charset="0"/>
                <a:ea typeface="Quattrocento Sans" panose="020B0502050000020003" pitchFamily="34" charset="-122"/>
                <a:cs typeface="Quattrocento Sans" panose="020B0502050000020003" pitchFamily="34" charset="-120"/>
                <a:sym typeface="+mn-ea"/>
              </a:rPr>
              <a:t>Establishes baseline for hybrid ARO variants in timetabling</a:t>
            </a:r>
            <a:endParaRPr lang="en-US" dirty="0"/>
          </a:p>
          <a:p>
            <a:pPr marL="0" indent="0">
              <a:buNone/>
            </a:pPr>
            <a:endParaRPr lang="en-US" altLang="en-GB" dirty="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sz="1300"/>
              <a:t>Successfully designed, implemented, and evaluated an Enhanced ARO for UCTP — compared with Standard ARO, GA, SA, and PSO across 24 ITC-2007 Track 2 instances</a:t>
            </a:r>
            <a:endParaRPr sz="1300"/>
          </a:p>
          <a:p>
            <a:r>
              <a:rPr sz="1300"/>
              <a:t>Performance ranking: SA &gt; Enhanced ARO &gt; GA &gt; PSO &gt; Standard ARO (under limited budgets)</a:t>
            </a:r>
            <a:endParaRPr sz="1300"/>
          </a:p>
          <a:p>
            <a:r>
              <a:rPr sz="1300"/>
              <a:t>Three key contributions: (1) First discrete ARO for UCTP; (2) Benchmarking framework with 1,800 runs; (3) Evidence-based, statistically validated comparison</a:t>
            </a:r>
            <a:endParaRPr sz="1300"/>
          </a:p>
          <a:p>
            <a:r>
              <a:rPr sz="1300"/>
              <a:t>Enhanced ARO significantly outperforms Standard ARO (δ = −0.984, Large) — validating the domain-specific discretisation approach</a:t>
            </a:r>
            <a:endParaRPr sz="1300"/>
          </a:p>
          <a:p>
            <a:r>
              <a:rPr sz="1300"/>
              <a:t>SA's superiority is explained by evaluation efficiency, not algorithmic superiority; Enhanced ARO closes the gap as the evaluation budget increases</a:t>
            </a:r>
            <a:endParaRPr sz="1300"/>
          </a:p>
          <a:p>
            <a:r>
              <a:rPr sz="1300"/>
              <a:t>Future Work: Hybrid SA+Enhanced ARO | Increased budgets | Convergence logging | Real institutional data | ML-based adaptive operator selection (Gu et al., 2025)</a:t>
            </a:r>
            <a:endParaRPr sz="1300"/>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15" y="205740"/>
            <a:ext cx="8928735" cy="627380"/>
          </a:xfrm>
        </p:spPr>
        <p:txBody>
          <a:bodyPr>
            <a:normAutofit fontScale="90000"/>
          </a:bodyPr>
          <a:lstStyle/>
          <a:p>
            <a:r>
              <a:t>References</a:t>
            </a:r>
          </a:p>
        </p:txBody>
      </p:sp>
      <p:sp>
        <p:nvSpPr>
          <p:cNvPr id="3" name="Content Placeholder 2"/>
          <p:cNvSpPr>
            <a:spLocks noGrp="1"/>
          </p:cNvSpPr>
          <p:nvPr>
            <p:ph idx="1"/>
          </p:nvPr>
        </p:nvSpPr>
        <p:spPr>
          <a:xfrm>
            <a:off x="107315" y="1200150"/>
            <a:ext cx="8928735" cy="3230880"/>
          </a:xfrm>
        </p:spPr>
        <p:txBody>
          <a:bodyPr>
            <a:noAutofit/>
          </a:bodyPr>
          <a:lstStyle/>
          <a:p>
            <a:pPr>
              <a:lnSpc>
                <a:spcPct val="100000"/>
              </a:lnSpc>
            </a:pPr>
            <a:r>
              <a:rPr lang="en-US" altLang="en-US" sz="800">
                <a:latin typeface="Times New Roman" panose="02020603050405020304" charset="0"/>
                <a:cs typeface="Times New Roman" panose="02020603050405020304" charset="0"/>
              </a:rPr>
              <a:t>Abdipoor, S., Yaakob, R., Goh, S. L., &amp; Abdullah, S. (2023). Meta-heuristic approaches for the University Course Timetabling Problem. Intelligent Systems with Applications, 19, 200253.</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Alhakami, H., &amp; Baz, A. (2020). A review of optimization algorithms for university timetable scheduling. Engineering, Technology &amp; Applied Science Research, 10(6), 6410–6417.</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Anka, F., Agaoglu, N., Nematzadeh, S., Torkamanian-Afshar, M., &amp; Gharehchopogh, F. S. (2024). Advances in Artificial Rabbits Optimization: A Comprehensive Review. Archives of Computational Methods in Engineering.</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Arias-Osorio, J., &amp; Mora-Esquivel, A. (2020). A solution to the university course timetabling problem using a hybrid method based on genetic algorithms. Dyna.</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Chen, M. C., Sze, S. N., Goh, S. L., Sabar, N. R., &amp; Kendall, G. (2021). A survey of university course timetabling problem: Perspectives, trends and opportunities. IEEE Access, 9, 106515–106529.</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Cruz-Rosales, M. H., Cruz-Chávez, M. A., Alonso-Pecina, F., Peralta-Abarca, J. d. C., </a:t>
            </a:r>
            <a:r>
              <a:rPr lang="en-US" altLang="en-US" sz="800">
                <a:latin typeface="Times New Roman" panose="02020603050405020304" charset="0"/>
                <a:cs typeface="Times New Roman" panose="02020603050405020304" charset="0"/>
              </a:rPr>
              <a:t>Á</a:t>
            </a:r>
            <a:r>
              <a:rPr lang="en-US" altLang="en-US" sz="800">
                <a:latin typeface="Times New Roman" panose="02020603050405020304" charset="0"/>
                <a:cs typeface="Times New Roman" panose="02020603050405020304" charset="0"/>
              </a:rPr>
              <a:t>vila-Melgar, E. Y., &amp; Martínez-Bahena, B. (2022). Metaheuristic with cooperative processes for the university course timetabling problem. Applied Sciences, 12(2), 542.</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Davison, M., Kheiri, A., &amp; Zografos, K. (2024). Modelling and solving the university course timetabling problem with hybrid teaching considerations. Journal of Scheduling, 28, 195–215.</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Gu, Z., Wang, Y., &amp; Li, X. (2025). Reinforcement learning-based adaptive operator selection for metaheuristic optimization. Applied Soft Computing, 152, 111218.</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Nguyen, Q. H., Nguyen, H. N., Nguyen, D. C., Pham, N. K., &amp; Hoang, K. S. (2021). An improved artificial rabbit optimization for structural damage identification. Latin American Journal of Solids and Structures, 24(1).</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Qu, X., &amp; Jia, Z. (2025). Multi-strategy enhanced artificial rabbits optimization for prediction of grades in tourism service communication courses. Scientific Reports.</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Rezaeipanah, A., Matoori, S. S., &amp; Ahmadi, G. (2020). A hybrid algorithm for the university course timetabling problem using the improved parallel genetic algorithm and local search. Applied Intelligence, 51(1), 467–492.</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Sylejmani, K., Gashi, E., &amp; Ymeri, A. (2022). Simulated annealing with penalization for university course timetabling. Journal of Scheduling, 26(4), 497–517.</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Wang, L., Cao, Q., Zhang, Z., Mirjalili, S., &amp; Zhao, W. (2022). Artificial rabbits optimization: A new bio-inspired meta-heuristic algorithm for solving engineering optimization problems. Engineering Applications of Artificial Intelligence, 114, 105082.</a:t>
            </a:r>
            <a:endParaRPr lang="en-US" altLang="en-US" sz="800">
              <a:latin typeface="Times New Roman" panose="02020603050405020304" charset="0"/>
              <a:cs typeface="Times New Roman" panose="02020603050405020304" charset="0"/>
            </a:endParaRPr>
          </a:p>
          <a:p>
            <a:pPr>
              <a:lnSpc>
                <a:spcPct val="100000"/>
              </a:lnSpc>
            </a:pPr>
            <a:r>
              <a:rPr lang="en-US" altLang="en-US" sz="800">
                <a:latin typeface="Times New Roman" panose="02020603050405020304" charset="0"/>
                <a:cs typeface="Times New Roman" panose="02020603050405020304" charset="0"/>
              </a:rPr>
              <a:t>Wang, R., Zhang, S., &amp; Jin, B. (2024). Improved multi-strategy artificial rabbits optimization for solving global optimization problems. Scientific Reports.</a:t>
            </a:r>
            <a:endParaRPr lang="en-US" altLang="en-US" sz="800">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p:txBody>
          <a:bodyPr/>
          <a:lstStyle/>
          <a:p>
            <a:fld id="{B2D481B8-F12E-4FB9-A3A8-66EE472E4641}" type="slidenum">
              <a:rPr lang="en-GB" smtClean="0"/>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fontScale="60000"/>
          </a:bodyPr>
          <a:lstStyle/>
          <a:p>
            <a:r>
              <a:rPr sz="4000">
                <a:sym typeface="+mn-ea"/>
              </a:rPr>
              <a:t>God </a:t>
            </a:r>
            <a:endParaRPr sz="4000">
              <a:sym typeface="+mn-ea"/>
            </a:endParaRPr>
          </a:p>
          <a:p>
            <a:r>
              <a:rPr sz="4000">
                <a:sym typeface="+mn-ea"/>
              </a:rPr>
              <a:t>Head of Department</a:t>
            </a:r>
            <a:endParaRPr sz="4000">
              <a:sym typeface="+mn-ea"/>
            </a:endParaRPr>
          </a:p>
          <a:p>
            <a:r>
              <a:rPr lang="en-US" sz="4000">
                <a:sym typeface="+mn-ea"/>
              </a:rPr>
              <a:t>My </a:t>
            </a:r>
            <a:r>
              <a:rPr sz="4000">
                <a:sym typeface="+mn-ea"/>
              </a:rPr>
              <a:t>Supervisor </a:t>
            </a:r>
            <a:endParaRPr sz="4000">
              <a:sym typeface="+mn-ea"/>
            </a:endParaRPr>
          </a:p>
          <a:p>
            <a:r>
              <a:rPr sz="4000">
                <a:sym typeface="+mn-ea"/>
              </a:rPr>
              <a:t>All Faculty of the Department of Computer and Information Sciences, Covenant University</a:t>
            </a:r>
            <a:endParaRPr sz="4000"/>
          </a:p>
          <a:p>
            <a:r>
              <a:rPr sz="4000">
                <a:sym typeface="+mn-ea"/>
              </a:rPr>
              <a:t>My parents and siblings</a:t>
            </a:r>
            <a:endParaRPr sz="4000"/>
          </a:p>
          <a:p>
            <a:r>
              <a:rPr sz="4000">
                <a:sym typeface="+mn-ea"/>
              </a:rPr>
              <a:t>My dear colleagues and classmates </a:t>
            </a:r>
            <a:endParaRPr sz="4000"/>
          </a:p>
          <a:p>
            <a:pPr marL="0" indent="0">
              <a:buNone/>
            </a:pPr>
            <a:endParaRPr lang="en-GB" sz="4000" dirty="0"/>
          </a:p>
          <a:p>
            <a:endParaRPr sz="4000"/>
          </a:p>
        </p:txBody>
      </p:sp>
      <p:sp>
        <p:nvSpPr>
          <p:cNvPr id="6" name="Text Box 5"/>
          <p:cNvSpPr txBox="1"/>
          <p:nvPr/>
        </p:nvSpPr>
        <p:spPr>
          <a:xfrm>
            <a:off x="-20320" y="213360"/>
            <a:ext cx="8921115" cy="852170"/>
          </a:xfrm>
          <a:prstGeom prst="rect">
            <a:avLst/>
          </a:prstGeom>
          <a:noFill/>
        </p:spPr>
        <p:txBody>
          <a:bodyPr wrap="square" rtlCol="0">
            <a:noAutofit/>
          </a:bodyPr>
          <a:p>
            <a:pPr algn="ctr"/>
            <a:r>
              <a:rPr sz="4000" b="1">
                <a:sym typeface="+mn-ea"/>
              </a:rPr>
              <a:t>Acknowledgement</a:t>
            </a:r>
            <a:endParaRPr lang="en-US" sz="4000" b="1">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A flower bouquet"/>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444208" y="1995686"/>
            <a:ext cx="3291830" cy="3291830"/>
          </a:xfrm>
          <a:prstGeom prst="rect">
            <a:avLst/>
          </a:prstGeom>
        </p:spPr>
      </p:pic>
      <p:sp>
        <p:nvSpPr>
          <p:cNvPr id="5" name="Title 4"/>
          <p:cNvSpPr>
            <a:spLocks noGrp="1"/>
          </p:cNvSpPr>
          <p:nvPr>
            <p:ph type="ctrTitle"/>
          </p:nvPr>
        </p:nvSpPr>
        <p:spPr/>
        <p:txBody>
          <a:bodyPr/>
          <a:lstStyle/>
          <a:p>
            <a:r>
              <a:rPr lang="en-GB" dirty="0">
                <a:sym typeface="+mn-ea"/>
              </a:rPr>
              <a:t>Thank You for Listening</a:t>
            </a:r>
            <a:endParaRPr lang="en-GB" dirty="0">
              <a:sym typeface="+mn-ea"/>
            </a:endParaRPr>
          </a:p>
        </p:txBody>
      </p:sp>
    </p:spTree>
  </p:cSld>
  <p:clrMapOvr>
    <a:masterClrMapping/>
  </p:clrMapOvr>
</p:sld>
</file>

<file path=ppt/tags/tag1.xml><?xml version="1.0" encoding="utf-8"?>
<p:tagLst xmlns:p="http://schemas.openxmlformats.org/presentationml/2006/main">
  <p:tag name="TABLE_ENDDRAG_ORIGIN_RECT" val="684*309"/>
  <p:tag name="TABLE_ENDDRAG_RECT" val="14*55*684*309"/>
</p:tagLst>
</file>

<file path=ppt/tags/tag2.xml><?xml version="1.0" encoding="utf-8"?>
<p:tagLst xmlns:p="http://schemas.openxmlformats.org/presentationml/2006/main">
  <p:tag name="TABLE_ENDDRAG_ORIGIN_RECT" val="685*244"/>
  <p:tag name="TABLE_ENDDRAG_RECT" val="8*83*685*244"/>
</p:tagLst>
</file>

<file path=ppt/tags/tag3.xml><?xml version="1.0" encoding="utf-8"?>
<p:tagLst xmlns:p="http://schemas.openxmlformats.org/presentationml/2006/main">
  <p:tag name="TABLE_ENDDRAG_ORIGIN_RECT" val="684*217"/>
  <p:tag name="TABLE_ENDDRAG_RECT" val="18*121*684*21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9612</Words>
  <Application>WPS Presentation</Application>
  <PresentationFormat>On-screen Show (16:9)</PresentationFormat>
  <Paragraphs>279</Paragraphs>
  <Slides>15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15</vt:i4>
      </vt:variant>
    </vt:vector>
  </HeadingPairs>
  <TitlesOfParts>
    <vt:vector size="34" baseType="lpstr">
      <vt:lpstr>Arial</vt:lpstr>
      <vt:lpstr>SimSun</vt:lpstr>
      <vt:lpstr>Wingdings</vt:lpstr>
      <vt:lpstr>Convection</vt:lpstr>
      <vt:lpstr>Roboto</vt:lpstr>
      <vt:lpstr>Book Antiqua</vt:lpstr>
      <vt:lpstr>-apple-system</vt:lpstr>
      <vt:lpstr>Ezra SIL</vt:lpstr>
      <vt:lpstr>Quattrocento Sans</vt:lpstr>
      <vt:lpstr>Yu Gothic UI</vt:lpstr>
      <vt:lpstr>Quattrocento Sans</vt:lpstr>
      <vt:lpstr>Quattrocento Sans</vt:lpstr>
      <vt:lpstr>Times New Roman</vt:lpstr>
      <vt:lpstr>Microsoft YaHei</vt:lpstr>
      <vt:lpstr>Arial Unicode MS</vt:lpstr>
      <vt:lpstr>Calibri</vt:lpstr>
      <vt:lpstr>MS PGothic</vt:lpstr>
      <vt:lpstr>Microsoft JhengHei UI</vt:lpstr>
      <vt:lpstr>Office Theme</vt:lpstr>
      <vt:lpstr>A Comparative Analysis with Existing Metaheuristics</vt:lpstr>
      <vt:lpstr>Presentation Outline</vt:lpstr>
      <vt:lpstr>Introduction: Background</vt:lpstr>
      <vt:lpstr>Literature Review</vt:lpstr>
      <vt:lpstr>Statement of Problem</vt:lpstr>
      <vt:lpstr>Aim of the Study</vt:lpstr>
      <vt:lpstr>Objectives of the Study</vt:lpstr>
      <vt:lpstr>Methodology</vt:lpstr>
      <vt:lpstr>Results: Algorithm Performance &amp; Statistical Validation</vt:lpstr>
      <vt:lpstr>Results: Per-Objective Findings</vt:lpstr>
      <vt:lpstr>Significance of Study</vt:lpstr>
      <vt:lpstr>Conclusion</vt:lpstr>
      <vt:lpstr>References</vt:lpstr>
      <vt:lpstr>PowerPoint 演示文稿</vt:lpstr>
      <vt:lpstr>Thank You for Listening</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Analysis and Design with UML</dc:title>
  <dc:creator>Azubuike Ezenwoke</dc:creator>
  <cp:lastModifiedBy>David Olufunso</cp:lastModifiedBy>
  <cp:revision>223</cp:revision>
  <dcterms:created xsi:type="dcterms:W3CDTF">2015-10-25T15:33:00Z</dcterms:created>
  <dcterms:modified xsi:type="dcterms:W3CDTF">2026-06-27T13:02:07Z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1E496803E2B14BEDA7F8D5A7E19C8CDD_12</vt:lpwstr>
  </property>
</Properties>
</file>